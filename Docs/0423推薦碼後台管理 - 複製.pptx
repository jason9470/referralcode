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3"/>
  </p:sldMasterIdLst>
  <p:notesMasterIdLst>
    <p:notesMasterId r:id="rId17"/>
  </p:notesMasterIdLst>
  <p:handoutMasterIdLst>
    <p:handoutMasterId r:id="rId18"/>
  </p:handoutMasterIdLst>
  <p:sldIdLst>
    <p:sldId id="1861" r:id="rId4"/>
    <p:sldId id="1925" r:id="rId5"/>
    <p:sldId id="1922" r:id="rId6"/>
    <p:sldId id="1923" r:id="rId7"/>
    <p:sldId id="1913" r:id="rId8"/>
    <p:sldId id="1927" r:id="rId9"/>
    <p:sldId id="1928" r:id="rId10"/>
    <p:sldId id="1911" r:id="rId11"/>
    <p:sldId id="1915" r:id="rId12"/>
    <p:sldId id="1905" r:id="rId13"/>
    <p:sldId id="1914" r:id="rId14"/>
    <p:sldId id="1869" r:id="rId15"/>
    <p:sldId id="1908" r:id="rId16"/>
  </p:sldIdLst>
  <p:sldSz cx="12192000" cy="6858000"/>
  <p:notesSz cx="6807200" cy="99393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邱舒婷 Candice (Yuanta)" initials="邱舒婷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565"/>
    <a:srgbClr val="FFFFFF"/>
    <a:srgbClr val="0070C0"/>
    <a:srgbClr val="E56565"/>
    <a:srgbClr val="0D324D"/>
    <a:srgbClr val="489FB5"/>
    <a:srgbClr val="FFBCB5"/>
    <a:srgbClr val="FFA62B"/>
    <a:srgbClr val="004D86"/>
    <a:srgbClr val="E962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中等深淺樣式 1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5" autoAdjust="0"/>
    <p:restoredTop sz="87660" autoAdjust="0"/>
  </p:normalViewPr>
  <p:slideViewPr>
    <p:cSldViewPr snapToGrid="0">
      <p:cViewPr varScale="1">
        <p:scale>
          <a:sx n="97" d="100"/>
          <a:sy n="97" d="100"/>
        </p:scale>
        <p:origin x="858" y="78"/>
      </p:cViewPr>
      <p:guideLst>
        <p:guide orient="horz" pos="1230"/>
        <p:guide pos="3727"/>
      </p:guideLst>
    </p:cSldViewPr>
  </p:slideViewPr>
  <p:outlineViewPr>
    <p:cViewPr>
      <p:scale>
        <a:sx n="33" d="100"/>
        <a:sy n="33" d="100"/>
      </p:scale>
      <p:origin x="0" y="-25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>
        <p:scale>
          <a:sx n="95" d="100"/>
          <a:sy n="95" d="100"/>
        </p:scale>
        <p:origin x="3600" y="-888"/>
      </p:cViewPr>
      <p:guideLst>
        <p:guide orient="horz" pos="3132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1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昶辰 練" userId="f6036a0ffaa21c7c" providerId="LiveId" clId="{D6416F6C-CEE6-614B-85A7-7CEDCAACC753}"/>
    <pc:docChg chg="undo custSel addSld delSld modSld sldOrd">
      <pc:chgData name="昶辰 練" userId="f6036a0ffaa21c7c" providerId="LiveId" clId="{D6416F6C-CEE6-614B-85A7-7CEDCAACC753}" dt="2023-05-15T11:51:18.814" v="5014" actId="2696"/>
      <pc:docMkLst>
        <pc:docMk/>
      </pc:docMkLst>
      <pc:sldChg chg="ord">
        <pc:chgData name="昶辰 練" userId="f6036a0ffaa21c7c" providerId="LiveId" clId="{D6416F6C-CEE6-614B-85A7-7CEDCAACC753}" dt="2023-05-15T05:30:15.075" v="2827" actId="20578"/>
        <pc:sldMkLst>
          <pc:docMk/>
          <pc:sldMk cId="3338823477" sldId="1766"/>
        </pc:sldMkLst>
      </pc:sldChg>
      <pc:sldChg chg="modSp mod ord">
        <pc:chgData name="昶辰 練" userId="f6036a0ffaa21c7c" providerId="LiveId" clId="{D6416F6C-CEE6-614B-85A7-7CEDCAACC753}" dt="2023-05-15T08:53:43.745" v="3128" actId="20577"/>
        <pc:sldMkLst>
          <pc:docMk/>
          <pc:sldMk cId="3641323194" sldId="1767"/>
        </pc:sldMkLst>
        <pc:spChg chg="mod">
          <ac:chgData name="昶辰 練" userId="f6036a0ffaa21c7c" providerId="LiveId" clId="{D6416F6C-CEE6-614B-85A7-7CEDCAACC753}" dt="2023-05-15T02:38:48.947" v="361" actId="20577"/>
          <ac:spMkLst>
            <pc:docMk/>
            <pc:sldMk cId="3641323194" sldId="1767"/>
            <ac:spMk id="3" creationId="{00000000-0000-0000-0000-000000000000}"/>
          </ac:spMkLst>
        </pc:spChg>
        <pc:graphicFrameChg chg="modGraphic">
          <ac:chgData name="昶辰 練" userId="f6036a0ffaa21c7c" providerId="LiveId" clId="{D6416F6C-CEE6-614B-85A7-7CEDCAACC753}" dt="2023-05-15T08:53:43.745" v="3128" actId="20577"/>
          <ac:graphicFrameMkLst>
            <pc:docMk/>
            <pc:sldMk cId="3641323194" sldId="1767"/>
            <ac:graphicFrameMk id="16" creationId="{788C01AB-8544-D9AD-9312-D023D5A50718}"/>
          </ac:graphicFrameMkLst>
        </pc:graphicFrameChg>
      </pc:sldChg>
      <pc:sldChg chg="add mod modShow">
        <pc:chgData name="昶辰 練" userId="f6036a0ffaa21c7c" providerId="LiveId" clId="{D6416F6C-CEE6-614B-85A7-7CEDCAACC753}" dt="2023-05-15T04:37:36.317" v="2616" actId="729"/>
        <pc:sldMkLst>
          <pc:docMk/>
          <pc:sldMk cId="403277061" sldId="1768"/>
        </pc:sldMkLst>
      </pc:sldChg>
      <pc:sldChg chg="modSp del mod">
        <pc:chgData name="昶辰 練" userId="f6036a0ffaa21c7c" providerId="LiveId" clId="{D6416F6C-CEE6-614B-85A7-7CEDCAACC753}" dt="2023-05-15T04:37:28.752" v="2614" actId="2696"/>
        <pc:sldMkLst>
          <pc:docMk/>
          <pc:sldMk cId="716509569" sldId="1768"/>
        </pc:sldMkLst>
        <pc:graphicFrameChg chg="modGraphic">
          <ac:chgData name="昶辰 練" userId="f6036a0ffaa21c7c" providerId="LiveId" clId="{D6416F6C-CEE6-614B-85A7-7CEDCAACC753}" dt="2023-05-15T03:58:28.399" v="2321" actId="14100"/>
          <ac:graphicFrameMkLst>
            <pc:docMk/>
            <pc:sldMk cId="716509569" sldId="1768"/>
            <ac:graphicFrameMk id="15" creationId="{00000000-0000-0000-0000-000000000000}"/>
          </ac:graphicFrameMkLst>
        </pc:graphicFrameChg>
      </pc:sldChg>
      <pc:sldChg chg="modSp mod modNotesTx">
        <pc:chgData name="昶辰 練" userId="f6036a0ffaa21c7c" providerId="LiveId" clId="{D6416F6C-CEE6-614B-85A7-7CEDCAACC753}" dt="2023-05-15T11:17:35.967" v="3919"/>
        <pc:sldMkLst>
          <pc:docMk/>
          <pc:sldMk cId="1090203565" sldId="1770"/>
        </pc:sldMkLst>
        <pc:spChg chg="mod">
          <ac:chgData name="昶辰 練" userId="f6036a0ffaa21c7c" providerId="LiveId" clId="{D6416F6C-CEE6-614B-85A7-7CEDCAACC753}" dt="2023-05-15T10:45:42.799" v="3140" actId="20577"/>
          <ac:spMkLst>
            <pc:docMk/>
            <pc:sldMk cId="1090203565" sldId="1770"/>
            <ac:spMk id="9" creationId="{00000000-0000-0000-0000-000000000000}"/>
          </ac:spMkLst>
        </pc:spChg>
      </pc:sldChg>
      <pc:sldChg chg="del mod ord modShow">
        <pc:chgData name="昶辰 練" userId="f6036a0ffaa21c7c" providerId="LiveId" clId="{D6416F6C-CEE6-614B-85A7-7CEDCAACC753}" dt="2023-05-15T04:37:17.533" v="2612" actId="2696"/>
        <pc:sldMkLst>
          <pc:docMk/>
          <pc:sldMk cId="1099418262" sldId="1772"/>
        </pc:sldMkLst>
      </pc:sldChg>
      <pc:sldChg chg="add">
        <pc:chgData name="昶辰 練" userId="f6036a0ffaa21c7c" providerId="LiveId" clId="{D6416F6C-CEE6-614B-85A7-7CEDCAACC753}" dt="2023-05-15T04:37:21.039" v="2613"/>
        <pc:sldMkLst>
          <pc:docMk/>
          <pc:sldMk cId="1251304739" sldId="1772"/>
        </pc:sldMkLst>
      </pc:sldChg>
      <pc:sldChg chg="modSp mod">
        <pc:chgData name="昶辰 練" userId="f6036a0ffaa21c7c" providerId="LiveId" clId="{D6416F6C-CEE6-614B-85A7-7CEDCAACC753}" dt="2023-05-15T04:41:02.435" v="2714" actId="20577"/>
        <pc:sldMkLst>
          <pc:docMk/>
          <pc:sldMk cId="3737327826" sldId="1773"/>
        </pc:sldMkLst>
        <pc:spChg chg="mod">
          <ac:chgData name="昶辰 練" userId="f6036a0ffaa21c7c" providerId="LiveId" clId="{D6416F6C-CEE6-614B-85A7-7CEDCAACC753}" dt="2023-05-15T04:41:02.435" v="2714" actId="20577"/>
          <ac:spMkLst>
            <pc:docMk/>
            <pc:sldMk cId="3737327826" sldId="1773"/>
            <ac:spMk id="3" creationId="{00000000-0000-0000-0000-000000000000}"/>
          </ac:spMkLst>
        </pc:spChg>
      </pc:sldChg>
      <pc:sldChg chg="addSp delSp modSp mod">
        <pc:chgData name="昶辰 練" userId="f6036a0ffaa21c7c" providerId="LiveId" clId="{D6416F6C-CEE6-614B-85A7-7CEDCAACC753}" dt="2023-05-15T04:47:28.257" v="2775" actId="2711"/>
        <pc:sldMkLst>
          <pc:docMk/>
          <pc:sldMk cId="3203085402" sldId="1777"/>
        </pc:sldMkLst>
        <pc:spChg chg="del">
          <ac:chgData name="昶辰 練" userId="f6036a0ffaa21c7c" providerId="LiveId" clId="{D6416F6C-CEE6-614B-85A7-7CEDCAACC753}" dt="2023-05-15T04:46:42.232" v="2715" actId="3680"/>
          <ac:spMkLst>
            <pc:docMk/>
            <pc:sldMk cId="3203085402" sldId="1777"/>
            <ac:spMk id="4" creationId="{43FEA3BA-FC87-846F-AE00-CCD75189287F}"/>
          </ac:spMkLst>
        </pc:spChg>
        <pc:graphicFrameChg chg="add mod ord modGraphic">
          <ac:chgData name="昶辰 練" userId="f6036a0ffaa21c7c" providerId="LiveId" clId="{D6416F6C-CEE6-614B-85A7-7CEDCAACC753}" dt="2023-05-15T04:47:28.257" v="2775" actId="2711"/>
          <ac:graphicFrameMkLst>
            <pc:docMk/>
            <pc:sldMk cId="3203085402" sldId="1777"/>
            <ac:graphicFrameMk id="3" creationId="{A2DFBE07-53DC-31D4-D2D0-CBD79CF661B9}"/>
          </ac:graphicFrameMkLst>
        </pc:graphicFrameChg>
      </pc:sldChg>
      <pc:sldChg chg="modSp mod ord">
        <pc:chgData name="昶辰 練" userId="f6036a0ffaa21c7c" providerId="LiveId" clId="{D6416F6C-CEE6-614B-85A7-7CEDCAACC753}" dt="2023-05-15T06:32:31.774" v="2884" actId="6549"/>
        <pc:sldMkLst>
          <pc:docMk/>
          <pc:sldMk cId="1564423400" sldId="1778"/>
        </pc:sldMkLst>
        <pc:graphicFrameChg chg="modGraphic">
          <ac:chgData name="昶辰 練" userId="f6036a0ffaa21c7c" providerId="LiveId" clId="{D6416F6C-CEE6-614B-85A7-7CEDCAACC753}" dt="2023-05-15T06:32:31.774" v="2884" actId="6549"/>
          <ac:graphicFrameMkLst>
            <pc:docMk/>
            <pc:sldMk cId="1564423400" sldId="1778"/>
            <ac:graphicFrameMk id="5" creationId="{55AC497B-70D9-6D1F-3D80-0601560E9929}"/>
          </ac:graphicFrameMkLst>
        </pc:graphicFrameChg>
      </pc:sldChg>
      <pc:sldChg chg="add del ord">
        <pc:chgData name="昶辰 練" userId="f6036a0ffaa21c7c" providerId="LiveId" clId="{D6416F6C-CEE6-614B-85A7-7CEDCAACC753}" dt="2023-05-15T02:38:38.466" v="356" actId="2696"/>
        <pc:sldMkLst>
          <pc:docMk/>
          <pc:sldMk cId="607593786" sldId="1779"/>
        </pc:sldMkLst>
      </pc:sldChg>
      <pc:sldChg chg="addSp delSp modSp add mod">
        <pc:chgData name="昶辰 練" userId="f6036a0ffaa21c7c" providerId="LiveId" clId="{D6416F6C-CEE6-614B-85A7-7CEDCAACC753}" dt="2023-05-15T04:57:09.767" v="2826" actId="255"/>
        <pc:sldMkLst>
          <pc:docMk/>
          <pc:sldMk cId="733361790" sldId="1779"/>
        </pc:sldMkLst>
        <pc:spChg chg="mod">
          <ac:chgData name="昶辰 練" userId="f6036a0ffaa21c7c" providerId="LiveId" clId="{D6416F6C-CEE6-614B-85A7-7CEDCAACC753}" dt="2023-05-15T03:22:00.320" v="2027" actId="20577"/>
          <ac:spMkLst>
            <pc:docMk/>
            <pc:sldMk cId="733361790" sldId="1779"/>
            <ac:spMk id="3" creationId="{63C228F9-A366-F72A-97BD-94F84EE6F6C1}"/>
          </ac:spMkLst>
        </pc:spChg>
        <pc:spChg chg="mod">
          <ac:chgData name="昶辰 練" userId="f6036a0ffaa21c7c" providerId="LiveId" clId="{D6416F6C-CEE6-614B-85A7-7CEDCAACC753}" dt="2023-05-15T04:36:27.786" v="2611" actId="20577"/>
          <ac:spMkLst>
            <pc:docMk/>
            <pc:sldMk cId="733361790" sldId="1779"/>
            <ac:spMk id="4" creationId="{507BB1BD-77C1-508B-B84E-BEDCF5A304D5}"/>
          </ac:spMkLst>
        </pc:spChg>
        <pc:spChg chg="add mod">
          <ac:chgData name="昶辰 練" userId="f6036a0ffaa21c7c" providerId="LiveId" clId="{D6416F6C-CEE6-614B-85A7-7CEDCAACC753}" dt="2023-05-15T04:35:02.015" v="2586" actId="12788"/>
          <ac:spMkLst>
            <pc:docMk/>
            <pc:sldMk cId="733361790" sldId="1779"/>
            <ac:spMk id="7" creationId="{C9954A4D-ABF6-DC37-D44B-854B90103374}"/>
          </ac:spMkLst>
        </pc:spChg>
        <pc:spChg chg="add mod">
          <ac:chgData name="昶辰 練" userId="f6036a0ffaa21c7c" providerId="LiveId" clId="{D6416F6C-CEE6-614B-85A7-7CEDCAACC753}" dt="2023-05-15T04:35:04.457" v="2587" actId="12788"/>
          <ac:spMkLst>
            <pc:docMk/>
            <pc:sldMk cId="733361790" sldId="1779"/>
            <ac:spMk id="10" creationId="{BB57D9A5-35FB-6DC1-4A0F-F09EFE0814E9}"/>
          </ac:spMkLst>
        </pc:spChg>
        <pc:spChg chg="add mod">
          <ac:chgData name="昶辰 練" userId="f6036a0ffaa21c7c" providerId="LiveId" clId="{D6416F6C-CEE6-614B-85A7-7CEDCAACC753}" dt="2023-05-15T03:40:00.986" v="2305" actId="403"/>
          <ac:spMkLst>
            <pc:docMk/>
            <pc:sldMk cId="733361790" sldId="1779"/>
            <ac:spMk id="14" creationId="{5A44C706-261A-BD5B-F21D-B4A709894D48}"/>
          </ac:spMkLst>
        </pc:spChg>
        <pc:spChg chg="add mod">
          <ac:chgData name="昶辰 練" userId="f6036a0ffaa21c7c" providerId="LiveId" clId="{D6416F6C-CEE6-614B-85A7-7CEDCAACC753}" dt="2023-05-15T04:57:09.767" v="2826" actId="255"/>
          <ac:spMkLst>
            <pc:docMk/>
            <pc:sldMk cId="733361790" sldId="1779"/>
            <ac:spMk id="21" creationId="{F6984710-EB2C-E217-2104-150808CB7619}"/>
          </ac:spMkLst>
        </pc:spChg>
        <pc:spChg chg="add del mod">
          <ac:chgData name="昶辰 練" userId="f6036a0ffaa21c7c" providerId="LiveId" clId="{D6416F6C-CEE6-614B-85A7-7CEDCAACC753}" dt="2023-05-15T03:38:51.020" v="2277" actId="478"/>
          <ac:spMkLst>
            <pc:docMk/>
            <pc:sldMk cId="733361790" sldId="1779"/>
            <ac:spMk id="23" creationId="{B7DB92D9-0F88-91FD-1906-5B3286D0575B}"/>
          </ac:spMkLst>
        </pc:spChg>
        <pc:spChg chg="add mod">
          <ac:chgData name="昶辰 練" userId="f6036a0ffaa21c7c" providerId="LiveId" clId="{D6416F6C-CEE6-614B-85A7-7CEDCAACC753}" dt="2023-05-15T03:40:00.986" v="2305" actId="403"/>
          <ac:spMkLst>
            <pc:docMk/>
            <pc:sldMk cId="733361790" sldId="1779"/>
            <ac:spMk id="24" creationId="{3A976057-4FB1-0A7B-9A35-DF129C4FC00A}"/>
          </ac:spMkLst>
        </pc:spChg>
        <pc:spChg chg="add del mod">
          <ac:chgData name="昶辰 練" userId="f6036a0ffaa21c7c" providerId="LiveId" clId="{D6416F6C-CEE6-614B-85A7-7CEDCAACC753}" dt="2023-05-15T03:40:42.460" v="2319" actId="478"/>
          <ac:spMkLst>
            <pc:docMk/>
            <pc:sldMk cId="733361790" sldId="1779"/>
            <ac:spMk id="31" creationId="{6A6C7C24-85BB-24FB-83BF-64F32244F722}"/>
          </ac:spMkLst>
        </pc:spChg>
        <pc:spChg chg="add mod">
          <ac:chgData name="昶辰 練" userId="f6036a0ffaa21c7c" providerId="LiveId" clId="{D6416F6C-CEE6-614B-85A7-7CEDCAACC753}" dt="2023-05-15T04:34:52.904" v="2583" actId="1076"/>
          <ac:spMkLst>
            <pc:docMk/>
            <pc:sldMk cId="733361790" sldId="1779"/>
            <ac:spMk id="37" creationId="{965C8179-D320-4DBB-D377-2F3222F89936}"/>
          </ac:spMkLst>
        </pc:spChg>
        <pc:spChg chg="add mod">
          <ac:chgData name="昶辰 練" userId="f6036a0ffaa21c7c" providerId="LiveId" clId="{D6416F6C-CEE6-614B-85A7-7CEDCAACC753}" dt="2023-05-15T04:34:59.472" v="2585" actId="408"/>
          <ac:spMkLst>
            <pc:docMk/>
            <pc:sldMk cId="733361790" sldId="1779"/>
            <ac:spMk id="38" creationId="{0EB39B2D-7D9A-7B9F-217D-134350F36F60}"/>
          </ac:spMkLst>
        </pc:spChg>
        <pc:picChg chg="add mod modCrop">
          <ac:chgData name="昶辰 練" userId="f6036a0ffaa21c7c" providerId="LiveId" clId="{D6416F6C-CEE6-614B-85A7-7CEDCAACC753}" dt="2023-05-15T04:35:02.015" v="2586" actId="12788"/>
          <ac:picMkLst>
            <pc:docMk/>
            <pc:sldMk cId="733361790" sldId="1779"/>
            <ac:picMk id="6" creationId="{140B63B7-8B6D-40C8-009E-CEADE500A523}"/>
          </ac:picMkLst>
        </pc:picChg>
        <pc:picChg chg="add mod">
          <ac:chgData name="昶辰 練" userId="f6036a0ffaa21c7c" providerId="LiveId" clId="{D6416F6C-CEE6-614B-85A7-7CEDCAACC753}" dt="2023-05-15T04:35:04.457" v="2587" actId="12788"/>
          <ac:picMkLst>
            <pc:docMk/>
            <pc:sldMk cId="733361790" sldId="1779"/>
            <ac:picMk id="9" creationId="{88C83CEF-2740-684F-7EF3-3022EC40EB9A}"/>
          </ac:picMkLst>
        </pc:picChg>
        <pc:cxnChg chg="add del mod">
          <ac:chgData name="昶辰 練" userId="f6036a0ffaa21c7c" providerId="LiveId" clId="{D6416F6C-CEE6-614B-85A7-7CEDCAACC753}" dt="2023-05-15T03:34:10.261" v="2171" actId="478"/>
          <ac:cxnSpMkLst>
            <pc:docMk/>
            <pc:sldMk cId="733361790" sldId="1779"/>
            <ac:cxnSpMk id="12" creationId="{57720A71-D0C2-A3E0-07C0-E3FEAF8EEACC}"/>
          </ac:cxnSpMkLst>
        </pc:cxnChg>
        <pc:cxnChg chg="add mod">
          <ac:chgData name="昶辰 練" userId="f6036a0ffaa21c7c" providerId="LiveId" clId="{D6416F6C-CEE6-614B-85A7-7CEDCAACC753}" dt="2023-05-15T04:35:02.015" v="2586" actId="12788"/>
          <ac:cxnSpMkLst>
            <pc:docMk/>
            <pc:sldMk cId="733361790" sldId="1779"/>
            <ac:cxnSpMk id="15" creationId="{DAE1F49B-BE72-578F-45EE-EE2C3E53D795}"/>
          </ac:cxnSpMkLst>
        </pc:cxnChg>
        <pc:cxnChg chg="add mod">
          <ac:chgData name="昶辰 練" userId="f6036a0ffaa21c7c" providerId="LiveId" clId="{D6416F6C-CEE6-614B-85A7-7CEDCAACC753}" dt="2023-05-15T04:35:04.457" v="2587" actId="12788"/>
          <ac:cxnSpMkLst>
            <pc:docMk/>
            <pc:sldMk cId="733361790" sldId="1779"/>
            <ac:cxnSpMk id="18" creationId="{E7A5D5C7-9D39-A53F-73CC-95E1EA5B3856}"/>
          </ac:cxnSpMkLst>
        </pc:cxnChg>
        <pc:cxnChg chg="add mod">
          <ac:chgData name="昶辰 練" userId="f6036a0ffaa21c7c" providerId="LiveId" clId="{D6416F6C-CEE6-614B-85A7-7CEDCAACC753}" dt="2023-05-15T04:35:04.457" v="2587" actId="12788"/>
          <ac:cxnSpMkLst>
            <pc:docMk/>
            <pc:sldMk cId="733361790" sldId="1779"/>
            <ac:cxnSpMk id="25" creationId="{9363DCC8-E9C1-F07D-8673-5B66DD0D724D}"/>
          </ac:cxnSpMkLst>
        </pc:cxnChg>
        <pc:cxnChg chg="add del mod">
          <ac:chgData name="昶辰 練" userId="f6036a0ffaa21c7c" providerId="LiveId" clId="{D6416F6C-CEE6-614B-85A7-7CEDCAACC753}" dt="2023-05-15T04:06:35.138" v="2565" actId="478"/>
          <ac:cxnSpMkLst>
            <pc:docMk/>
            <pc:sldMk cId="733361790" sldId="1779"/>
            <ac:cxnSpMk id="33" creationId="{BAB23F2A-A20E-2C84-FA24-994A40151951}"/>
          </ac:cxnSpMkLst>
        </pc:cxnChg>
        <pc:cxnChg chg="add del mod">
          <ac:chgData name="昶辰 練" userId="f6036a0ffaa21c7c" providerId="LiveId" clId="{D6416F6C-CEE6-614B-85A7-7CEDCAACC753}" dt="2023-05-15T04:06:30.495" v="2564" actId="478"/>
          <ac:cxnSpMkLst>
            <pc:docMk/>
            <pc:sldMk cId="733361790" sldId="1779"/>
            <ac:cxnSpMk id="36" creationId="{F25D5D70-5B38-10B2-7CF9-256EDE576EE6}"/>
          </ac:cxnSpMkLst>
        </pc:cxnChg>
      </pc:sldChg>
      <pc:sldChg chg="modSp del mod">
        <pc:chgData name="昶辰 練" userId="f6036a0ffaa21c7c" providerId="LiveId" clId="{D6416F6C-CEE6-614B-85A7-7CEDCAACC753}" dt="2023-05-15T02:37:10.046" v="344" actId="2696"/>
        <pc:sldMkLst>
          <pc:docMk/>
          <pc:sldMk cId="2641282298" sldId="1779"/>
        </pc:sldMkLst>
        <pc:spChg chg="mod">
          <ac:chgData name="昶辰 練" userId="f6036a0ffaa21c7c" providerId="LiveId" clId="{D6416F6C-CEE6-614B-85A7-7CEDCAACC753}" dt="2023-05-15T02:37:06.921" v="343" actId="20577"/>
          <ac:spMkLst>
            <pc:docMk/>
            <pc:sldMk cId="2641282298" sldId="1779"/>
            <ac:spMk id="3" creationId="{63C228F9-A366-F72A-97BD-94F84EE6F6C1}"/>
          </ac:spMkLst>
        </pc:spChg>
      </pc:sldChg>
      <pc:sldChg chg="addSp delSp modSp mod">
        <pc:chgData name="昶辰 練" userId="f6036a0ffaa21c7c" providerId="LiveId" clId="{D6416F6C-CEE6-614B-85A7-7CEDCAACC753}" dt="2023-05-15T02:38:29.670" v="355" actId="1076"/>
        <pc:sldMkLst>
          <pc:docMk/>
          <pc:sldMk cId="2589834892" sldId="1780"/>
        </pc:sldMkLst>
        <pc:spChg chg="add del mod">
          <ac:chgData name="昶辰 練" userId="f6036a0ffaa21c7c" providerId="LiveId" clId="{D6416F6C-CEE6-614B-85A7-7CEDCAACC753}" dt="2023-05-15T02:34:48.479" v="138" actId="478"/>
          <ac:spMkLst>
            <pc:docMk/>
            <pc:sldMk cId="2589834892" sldId="1780"/>
            <ac:spMk id="4" creationId="{CDA77F87-73F1-AD13-30DB-E00E6B473174}"/>
          </ac:spMkLst>
        </pc:spChg>
        <pc:spChg chg="mod">
          <ac:chgData name="昶辰 練" userId="f6036a0ffaa21c7c" providerId="LiveId" clId="{D6416F6C-CEE6-614B-85A7-7CEDCAACC753}" dt="2023-05-15T02:38:29.670" v="355" actId="1076"/>
          <ac:spMkLst>
            <pc:docMk/>
            <pc:sldMk cId="2589834892" sldId="1780"/>
            <ac:spMk id="5" creationId="{FF71E78C-D325-57A4-22E7-8D81337A35AF}"/>
          </ac:spMkLst>
        </pc:spChg>
        <pc:spChg chg="mod">
          <ac:chgData name="昶辰 練" userId="f6036a0ffaa21c7c" providerId="LiveId" clId="{D6416F6C-CEE6-614B-85A7-7CEDCAACC753}" dt="2023-05-15T02:38:29.670" v="355" actId="1076"/>
          <ac:spMkLst>
            <pc:docMk/>
            <pc:sldMk cId="2589834892" sldId="1780"/>
            <ac:spMk id="7" creationId="{E349F052-E261-5C9E-3668-248DA02AEF61}"/>
          </ac:spMkLst>
        </pc:spChg>
        <pc:spChg chg="mod">
          <ac:chgData name="昶辰 練" userId="f6036a0ffaa21c7c" providerId="LiveId" clId="{D6416F6C-CEE6-614B-85A7-7CEDCAACC753}" dt="2023-05-15T02:38:29.670" v="355" actId="1076"/>
          <ac:spMkLst>
            <pc:docMk/>
            <pc:sldMk cId="2589834892" sldId="1780"/>
            <ac:spMk id="8" creationId="{CE7DF469-3CB7-77EE-47C0-E96C15EF50A4}"/>
          </ac:spMkLst>
        </pc:spChg>
        <pc:spChg chg="mod">
          <ac:chgData name="昶辰 練" userId="f6036a0ffaa21c7c" providerId="LiveId" clId="{D6416F6C-CEE6-614B-85A7-7CEDCAACC753}" dt="2023-05-15T02:38:29.670" v="355" actId="1076"/>
          <ac:spMkLst>
            <pc:docMk/>
            <pc:sldMk cId="2589834892" sldId="1780"/>
            <ac:spMk id="9" creationId="{B0A4557A-0ABA-E979-97D9-A88E1CECE330}"/>
          </ac:spMkLst>
        </pc:spChg>
        <pc:spChg chg="mod">
          <ac:chgData name="昶辰 練" userId="f6036a0ffaa21c7c" providerId="LiveId" clId="{D6416F6C-CEE6-614B-85A7-7CEDCAACC753}" dt="2023-05-15T02:38:29.670" v="355" actId="1076"/>
          <ac:spMkLst>
            <pc:docMk/>
            <pc:sldMk cId="2589834892" sldId="1780"/>
            <ac:spMk id="11" creationId="{AE3F573C-8EE9-FDEA-3BD8-FB1D75EBC6CA}"/>
          </ac:spMkLst>
        </pc:spChg>
        <pc:spChg chg="mod">
          <ac:chgData name="昶辰 練" userId="f6036a0ffaa21c7c" providerId="LiveId" clId="{D6416F6C-CEE6-614B-85A7-7CEDCAACC753}" dt="2023-05-15T02:38:29.670" v="355" actId="1076"/>
          <ac:spMkLst>
            <pc:docMk/>
            <pc:sldMk cId="2589834892" sldId="1780"/>
            <ac:spMk id="13" creationId="{CCDA3D8C-4372-79EE-150F-CEA0A6A2F6AA}"/>
          </ac:spMkLst>
        </pc:spChg>
        <pc:spChg chg="mod">
          <ac:chgData name="昶辰 練" userId="f6036a0ffaa21c7c" providerId="LiveId" clId="{D6416F6C-CEE6-614B-85A7-7CEDCAACC753}" dt="2023-05-15T02:38:29.670" v="355" actId="1076"/>
          <ac:spMkLst>
            <pc:docMk/>
            <pc:sldMk cId="2589834892" sldId="1780"/>
            <ac:spMk id="14" creationId="{0E4DA51F-CEC8-DDBE-366E-92DC5480E389}"/>
          </ac:spMkLst>
        </pc:spChg>
        <pc:spChg chg="mod">
          <ac:chgData name="昶辰 練" userId="f6036a0ffaa21c7c" providerId="LiveId" clId="{D6416F6C-CEE6-614B-85A7-7CEDCAACC753}" dt="2023-05-15T02:38:29.670" v="355" actId="1076"/>
          <ac:spMkLst>
            <pc:docMk/>
            <pc:sldMk cId="2589834892" sldId="1780"/>
            <ac:spMk id="15" creationId="{08FE587E-5E3B-FE66-72B0-4429AD10E7BF}"/>
          </ac:spMkLst>
        </pc:spChg>
        <pc:spChg chg="mod">
          <ac:chgData name="昶辰 練" userId="f6036a0ffaa21c7c" providerId="LiveId" clId="{D6416F6C-CEE6-614B-85A7-7CEDCAACC753}" dt="2023-05-15T02:38:29.670" v="355" actId="1076"/>
          <ac:spMkLst>
            <pc:docMk/>
            <pc:sldMk cId="2589834892" sldId="1780"/>
            <ac:spMk id="16" creationId="{0F990D4A-C728-2430-34D8-5A0387DBC765}"/>
          </ac:spMkLst>
        </pc:spChg>
        <pc:spChg chg="mod">
          <ac:chgData name="昶辰 練" userId="f6036a0ffaa21c7c" providerId="LiveId" clId="{D6416F6C-CEE6-614B-85A7-7CEDCAACC753}" dt="2023-05-15T02:38:29.670" v="355" actId="1076"/>
          <ac:spMkLst>
            <pc:docMk/>
            <pc:sldMk cId="2589834892" sldId="1780"/>
            <ac:spMk id="17" creationId="{BA6C5201-6AAB-CEF1-9C09-6FC9D822CE7B}"/>
          </ac:spMkLst>
        </pc:spChg>
        <pc:spChg chg="mod">
          <ac:chgData name="昶辰 練" userId="f6036a0ffaa21c7c" providerId="LiveId" clId="{D6416F6C-CEE6-614B-85A7-7CEDCAACC753}" dt="2023-05-15T02:34:52.581" v="148" actId="1036"/>
          <ac:spMkLst>
            <pc:docMk/>
            <pc:sldMk cId="2589834892" sldId="1780"/>
            <ac:spMk id="18" creationId="{32351982-DD91-DA21-6316-16E820B7FDEA}"/>
          </ac:spMkLst>
        </pc:spChg>
      </pc:sldChg>
      <pc:sldChg chg="modSp new mod ord">
        <pc:chgData name="昶辰 練" userId="f6036a0ffaa21c7c" providerId="LiveId" clId="{D6416F6C-CEE6-614B-85A7-7CEDCAACC753}" dt="2023-05-15T08:39:01.638" v="2890" actId="20577"/>
        <pc:sldMkLst>
          <pc:docMk/>
          <pc:sldMk cId="3065648013" sldId="1781"/>
        </pc:sldMkLst>
        <pc:spChg chg="mod">
          <ac:chgData name="昶辰 練" userId="f6036a0ffaa21c7c" providerId="LiveId" clId="{D6416F6C-CEE6-614B-85A7-7CEDCAACC753}" dt="2023-05-15T02:41:50.991" v="604" actId="20577"/>
          <ac:spMkLst>
            <pc:docMk/>
            <pc:sldMk cId="3065648013" sldId="1781"/>
            <ac:spMk id="3" creationId="{253EB195-9855-50CE-6C47-2B47934844E3}"/>
          </ac:spMkLst>
        </pc:spChg>
        <pc:spChg chg="mod">
          <ac:chgData name="昶辰 練" userId="f6036a0ffaa21c7c" providerId="LiveId" clId="{D6416F6C-CEE6-614B-85A7-7CEDCAACC753}" dt="2023-05-15T08:39:01.638" v="2890" actId="20577"/>
          <ac:spMkLst>
            <pc:docMk/>
            <pc:sldMk cId="3065648013" sldId="1781"/>
            <ac:spMk id="4" creationId="{BA2AC106-6201-EA12-BDD9-7FE51790D677}"/>
          </ac:spMkLst>
        </pc:spChg>
      </pc:sldChg>
      <pc:sldChg chg="modSp new del mod">
        <pc:chgData name="昶辰 練" userId="f6036a0ffaa21c7c" providerId="LiveId" clId="{D6416F6C-CEE6-614B-85A7-7CEDCAACC753}" dt="2023-05-15T11:51:18.814" v="5014" actId="2696"/>
        <pc:sldMkLst>
          <pc:docMk/>
          <pc:sldMk cId="4275993907" sldId="1782"/>
        </pc:sldMkLst>
        <pc:spChg chg="mod">
          <ac:chgData name="昶辰 練" userId="f6036a0ffaa21c7c" providerId="LiveId" clId="{D6416F6C-CEE6-614B-85A7-7CEDCAACC753}" dt="2023-05-15T08:40:27.634" v="2938" actId="20577"/>
          <ac:spMkLst>
            <pc:docMk/>
            <pc:sldMk cId="4275993907" sldId="1782"/>
            <ac:spMk id="3" creationId="{492BA83D-DBD0-4D5A-8D1C-D1F3E041ED44}"/>
          </ac:spMkLst>
        </pc:spChg>
      </pc:sldChg>
      <pc:sldChg chg="modSp add mod modShow">
        <pc:chgData name="昶辰 練" userId="f6036a0ffaa21c7c" providerId="LiveId" clId="{D6416F6C-CEE6-614B-85A7-7CEDCAACC753}" dt="2023-05-15T10:46:05.224" v="3146" actId="729"/>
        <pc:sldMkLst>
          <pc:docMk/>
          <pc:sldMk cId="2482310949" sldId="1783"/>
        </pc:sldMkLst>
        <pc:spChg chg="mod">
          <ac:chgData name="昶辰 練" userId="f6036a0ffaa21c7c" providerId="LiveId" clId="{D6416F6C-CEE6-614B-85A7-7CEDCAACC753}" dt="2023-05-15T10:46:02.706" v="3145" actId="20577"/>
          <ac:spMkLst>
            <pc:docMk/>
            <pc:sldMk cId="2482310949" sldId="1783"/>
            <ac:spMk id="9" creationId="{00000000-0000-0000-0000-000000000000}"/>
          </ac:spMkLst>
        </pc:spChg>
      </pc:sldChg>
      <pc:sldChg chg="addSp delSp modSp new del mod">
        <pc:chgData name="昶辰 練" userId="f6036a0ffaa21c7c" providerId="LiveId" clId="{D6416F6C-CEE6-614B-85A7-7CEDCAACC753}" dt="2023-05-15T11:17:45.110" v="3921" actId="2696"/>
        <pc:sldMkLst>
          <pc:docMk/>
          <pc:sldMk cId="2308744912" sldId="1784"/>
        </pc:sldMkLst>
        <pc:spChg chg="del">
          <ac:chgData name="昶辰 練" userId="f6036a0ffaa21c7c" providerId="LiveId" clId="{D6416F6C-CEE6-614B-85A7-7CEDCAACC753}" dt="2023-05-15T10:55:19.183" v="3168" actId="478"/>
          <ac:spMkLst>
            <pc:docMk/>
            <pc:sldMk cId="2308744912" sldId="1784"/>
            <ac:spMk id="4" creationId="{824963AA-C622-017A-11CF-9B1030B019B7}"/>
          </ac:spMkLst>
        </pc:spChg>
        <pc:spChg chg="add del mod">
          <ac:chgData name="昶辰 練" userId="f6036a0ffaa21c7c" providerId="LiveId" clId="{D6416F6C-CEE6-614B-85A7-7CEDCAACC753}" dt="2023-05-15T10:54:59.904" v="3154" actId="478"/>
          <ac:spMkLst>
            <pc:docMk/>
            <pc:sldMk cId="2308744912" sldId="1784"/>
            <ac:spMk id="5" creationId="{F5FA356F-8610-12C7-6751-274709F1CFC4}"/>
          </ac:spMkLst>
        </pc:spChg>
        <pc:spChg chg="add mod">
          <ac:chgData name="昶辰 練" userId="f6036a0ffaa21c7c" providerId="LiveId" clId="{D6416F6C-CEE6-614B-85A7-7CEDCAACC753}" dt="2023-05-15T11:01:55.310" v="3425" actId="1076"/>
          <ac:spMkLst>
            <pc:docMk/>
            <pc:sldMk cId="2308744912" sldId="1784"/>
            <ac:spMk id="6" creationId="{154796BD-C36A-DFCC-E903-E2DF858A7519}"/>
          </ac:spMkLst>
        </pc:spChg>
        <pc:spChg chg="add mod">
          <ac:chgData name="昶辰 練" userId="f6036a0ffaa21c7c" providerId="LiveId" clId="{D6416F6C-CEE6-614B-85A7-7CEDCAACC753}" dt="2023-05-15T11:01:55.310" v="3425" actId="1076"/>
          <ac:spMkLst>
            <pc:docMk/>
            <pc:sldMk cId="2308744912" sldId="1784"/>
            <ac:spMk id="7" creationId="{4B81368B-C326-32A6-A855-D2F50554F89A}"/>
          </ac:spMkLst>
        </pc:spChg>
        <pc:spChg chg="add del mod">
          <ac:chgData name="昶辰 練" userId="f6036a0ffaa21c7c" providerId="LiveId" clId="{D6416F6C-CEE6-614B-85A7-7CEDCAACC753}" dt="2023-05-15T10:57:11.890" v="3184" actId="478"/>
          <ac:spMkLst>
            <pc:docMk/>
            <pc:sldMk cId="2308744912" sldId="1784"/>
            <ac:spMk id="8" creationId="{6611CDF4-DBB8-88F8-2183-865F22B8112F}"/>
          </ac:spMkLst>
        </pc:spChg>
        <pc:spChg chg="add del mod">
          <ac:chgData name="昶辰 練" userId="f6036a0ffaa21c7c" providerId="LiveId" clId="{D6416F6C-CEE6-614B-85A7-7CEDCAACC753}" dt="2023-05-15T10:57:12.968" v="3185" actId="478"/>
          <ac:spMkLst>
            <pc:docMk/>
            <pc:sldMk cId="2308744912" sldId="1784"/>
            <ac:spMk id="9" creationId="{3F2D43BC-DA8D-B23E-9467-52E890E52B45}"/>
          </ac:spMkLst>
        </pc:spChg>
        <pc:spChg chg="add mod">
          <ac:chgData name="昶辰 練" userId="f6036a0ffaa21c7c" providerId="LiveId" clId="{D6416F6C-CEE6-614B-85A7-7CEDCAACC753}" dt="2023-05-15T11:02:02.152" v="3427" actId="1076"/>
          <ac:spMkLst>
            <pc:docMk/>
            <pc:sldMk cId="2308744912" sldId="1784"/>
            <ac:spMk id="10" creationId="{09B0B5DC-2A07-F714-6E54-DA0988011955}"/>
          </ac:spMkLst>
        </pc:spChg>
        <pc:spChg chg="add mod">
          <ac:chgData name="昶辰 練" userId="f6036a0ffaa21c7c" providerId="LiveId" clId="{D6416F6C-CEE6-614B-85A7-7CEDCAACC753}" dt="2023-05-15T11:01:55.310" v="3425" actId="1076"/>
          <ac:spMkLst>
            <pc:docMk/>
            <pc:sldMk cId="2308744912" sldId="1784"/>
            <ac:spMk id="11" creationId="{186F492F-7BD7-F198-5F2B-E8E15835642D}"/>
          </ac:spMkLst>
        </pc:spChg>
        <pc:spChg chg="add mod">
          <ac:chgData name="昶辰 練" userId="f6036a0ffaa21c7c" providerId="LiveId" clId="{D6416F6C-CEE6-614B-85A7-7CEDCAACC753}" dt="2023-05-15T11:02:44.417" v="3456" actId="1076"/>
          <ac:spMkLst>
            <pc:docMk/>
            <pc:sldMk cId="2308744912" sldId="1784"/>
            <ac:spMk id="14" creationId="{EF7D3392-2D72-5E06-DEBA-79F896A7853D}"/>
          </ac:spMkLst>
        </pc:spChg>
        <pc:spChg chg="add mod">
          <ac:chgData name="昶辰 練" userId="f6036a0ffaa21c7c" providerId="LiveId" clId="{D6416F6C-CEE6-614B-85A7-7CEDCAACC753}" dt="2023-05-15T11:04:10.703" v="3570" actId="20577"/>
          <ac:spMkLst>
            <pc:docMk/>
            <pc:sldMk cId="2308744912" sldId="1784"/>
            <ac:spMk id="15" creationId="{1891AED4-3F8D-64C2-C96F-0F238656E3CA}"/>
          </ac:spMkLst>
        </pc:spChg>
        <pc:spChg chg="add del mod">
          <ac:chgData name="昶辰 練" userId="f6036a0ffaa21c7c" providerId="LiveId" clId="{D6416F6C-CEE6-614B-85A7-7CEDCAACC753}" dt="2023-05-15T11:04:55.063" v="3573"/>
          <ac:spMkLst>
            <pc:docMk/>
            <pc:sldMk cId="2308744912" sldId="1784"/>
            <ac:spMk id="16" creationId="{6DD7D82B-5F6F-7396-2FDB-E67889F7AC1A}"/>
          </ac:spMkLst>
        </pc:spChg>
        <pc:picChg chg="add del mod">
          <ac:chgData name="昶辰 練" userId="f6036a0ffaa21c7c" providerId="LiveId" clId="{D6416F6C-CEE6-614B-85A7-7CEDCAACC753}" dt="2023-05-15T10:59:42.323" v="3344" actId="478"/>
          <ac:picMkLst>
            <pc:docMk/>
            <pc:sldMk cId="2308744912" sldId="1784"/>
            <ac:picMk id="12" creationId="{743913CF-3E42-FCB1-5AD5-B16AF570A172}"/>
          </ac:picMkLst>
        </pc:picChg>
        <pc:picChg chg="add mod">
          <ac:chgData name="昶辰 練" userId="f6036a0ffaa21c7c" providerId="LiveId" clId="{D6416F6C-CEE6-614B-85A7-7CEDCAACC753}" dt="2023-05-15T11:01:57.561" v="3426" actId="1076"/>
          <ac:picMkLst>
            <pc:docMk/>
            <pc:sldMk cId="2308744912" sldId="1784"/>
            <ac:picMk id="13" creationId="{53043809-2611-CA03-4363-8744831259BC}"/>
          </ac:picMkLst>
        </pc:picChg>
      </pc:sldChg>
      <pc:sldChg chg="add">
        <pc:chgData name="昶辰 練" userId="f6036a0ffaa21c7c" providerId="LiveId" clId="{D6416F6C-CEE6-614B-85A7-7CEDCAACC753}" dt="2023-05-15T11:51:17.409" v="5013"/>
        <pc:sldMkLst>
          <pc:docMk/>
          <pc:sldMk cId="1759071504" sldId="1785"/>
        </pc:sldMkLst>
      </pc:sldChg>
      <pc:sldChg chg="addSp delSp modSp add del mod modNotesTx">
        <pc:chgData name="昶辰 練" userId="f6036a0ffaa21c7c" providerId="LiveId" clId="{D6416F6C-CEE6-614B-85A7-7CEDCAACC753}" dt="2023-05-15T11:51:12.449" v="5012" actId="2696"/>
        <pc:sldMkLst>
          <pc:docMk/>
          <pc:sldMk cId="1846850883" sldId="1785"/>
        </pc:sldMkLst>
        <pc:spChg chg="mod">
          <ac:chgData name="昶辰 練" userId="f6036a0ffaa21c7c" providerId="LiveId" clId="{D6416F6C-CEE6-614B-85A7-7CEDCAACC753}" dt="2023-05-15T11:51:06.608" v="5002" actId="20577"/>
          <ac:spMkLst>
            <pc:docMk/>
            <pc:sldMk cId="1846850883" sldId="1785"/>
            <ac:spMk id="3" creationId="{764954AF-EF34-AF94-5A71-23798B0821D5}"/>
          </ac:spMkLst>
        </pc:spChg>
        <pc:spChg chg="del">
          <ac:chgData name="昶辰 練" userId="f6036a0ffaa21c7c" providerId="LiveId" clId="{D6416F6C-CEE6-614B-85A7-7CEDCAACC753}" dt="2023-05-15T11:07:47.537" v="3637" actId="478"/>
          <ac:spMkLst>
            <pc:docMk/>
            <pc:sldMk cId="1846850883" sldId="1785"/>
            <ac:spMk id="6" creationId="{154796BD-C36A-DFCC-E903-E2DF858A7519}"/>
          </ac:spMkLst>
        </pc:spChg>
        <pc:spChg chg="del">
          <ac:chgData name="昶辰 練" userId="f6036a0ffaa21c7c" providerId="LiveId" clId="{D6416F6C-CEE6-614B-85A7-7CEDCAACC753}" dt="2023-05-15T11:06:01.418" v="3575" actId="478"/>
          <ac:spMkLst>
            <pc:docMk/>
            <pc:sldMk cId="1846850883" sldId="1785"/>
            <ac:spMk id="7" creationId="{4B81368B-C326-32A6-A855-D2F50554F89A}"/>
          </ac:spMkLst>
        </pc:spChg>
        <pc:spChg chg="del">
          <ac:chgData name="昶辰 練" userId="f6036a0ffaa21c7c" providerId="LiveId" clId="{D6416F6C-CEE6-614B-85A7-7CEDCAACC753}" dt="2023-05-15T11:07:47.537" v="3637" actId="478"/>
          <ac:spMkLst>
            <pc:docMk/>
            <pc:sldMk cId="1846850883" sldId="1785"/>
            <ac:spMk id="10" creationId="{09B0B5DC-2A07-F714-6E54-DA0988011955}"/>
          </ac:spMkLst>
        </pc:spChg>
        <pc:spChg chg="del mod">
          <ac:chgData name="昶辰 練" userId="f6036a0ffaa21c7c" providerId="LiveId" clId="{D6416F6C-CEE6-614B-85A7-7CEDCAACC753}" dt="2023-05-15T11:07:47.537" v="3637" actId="478"/>
          <ac:spMkLst>
            <pc:docMk/>
            <pc:sldMk cId="1846850883" sldId="1785"/>
            <ac:spMk id="11" creationId="{186F492F-7BD7-F198-5F2B-E8E15835642D}"/>
          </ac:spMkLst>
        </pc:spChg>
        <pc:spChg chg="del">
          <ac:chgData name="昶辰 練" userId="f6036a0ffaa21c7c" providerId="LiveId" clId="{D6416F6C-CEE6-614B-85A7-7CEDCAACC753}" dt="2023-05-15T11:07:49.073" v="3638" actId="478"/>
          <ac:spMkLst>
            <pc:docMk/>
            <pc:sldMk cId="1846850883" sldId="1785"/>
            <ac:spMk id="14" creationId="{EF7D3392-2D72-5E06-DEBA-79F896A7853D}"/>
          </ac:spMkLst>
        </pc:spChg>
        <pc:spChg chg="del">
          <ac:chgData name="昶辰 練" userId="f6036a0ffaa21c7c" providerId="LiveId" clId="{D6416F6C-CEE6-614B-85A7-7CEDCAACC753}" dt="2023-05-15T11:07:49.073" v="3638" actId="478"/>
          <ac:spMkLst>
            <pc:docMk/>
            <pc:sldMk cId="1846850883" sldId="1785"/>
            <ac:spMk id="15" creationId="{1891AED4-3F8D-64C2-C96F-0F238656E3CA}"/>
          </ac:spMkLst>
        </pc:spChg>
        <pc:graphicFrameChg chg="add mod modGraphic">
          <ac:chgData name="昶辰 練" userId="f6036a0ffaa21c7c" providerId="LiveId" clId="{D6416F6C-CEE6-614B-85A7-7CEDCAACC753}" dt="2023-05-15T11:34:48.473" v="4604" actId="20577"/>
          <ac:graphicFrameMkLst>
            <pc:docMk/>
            <pc:sldMk cId="1846850883" sldId="1785"/>
            <ac:graphicFrameMk id="4" creationId="{FB14567D-22B4-C621-9F6E-27C25D4E384D}"/>
          </ac:graphicFrameMkLst>
        </pc:graphicFrameChg>
        <pc:picChg chg="del mod modCrop">
          <ac:chgData name="昶辰 練" userId="f6036a0ffaa21c7c" providerId="LiveId" clId="{D6416F6C-CEE6-614B-85A7-7CEDCAACC753}" dt="2023-05-15T11:22:56.653" v="4256" actId="478"/>
          <ac:picMkLst>
            <pc:docMk/>
            <pc:sldMk cId="1846850883" sldId="1785"/>
            <ac:picMk id="13" creationId="{53043809-2611-CA03-4363-8744831259BC}"/>
          </ac:picMkLst>
        </pc:picChg>
      </pc:sldChg>
      <pc:sldChg chg="add">
        <pc:chgData name="昶辰 練" userId="f6036a0ffaa21c7c" providerId="LiveId" clId="{D6416F6C-CEE6-614B-85A7-7CEDCAACC753}" dt="2023-05-15T11:51:17.409" v="5013"/>
        <pc:sldMkLst>
          <pc:docMk/>
          <pc:sldMk cId="1242961161" sldId="1786"/>
        </pc:sldMkLst>
      </pc:sldChg>
      <pc:sldChg chg="addSp modSp new del mod">
        <pc:chgData name="昶辰 練" userId="f6036a0ffaa21c7c" providerId="LiveId" clId="{D6416F6C-CEE6-614B-85A7-7CEDCAACC753}" dt="2023-05-15T11:51:12.449" v="5012" actId="2696"/>
        <pc:sldMkLst>
          <pc:docMk/>
          <pc:sldMk cId="3761757239" sldId="1786"/>
        </pc:sldMkLst>
        <pc:spChg chg="mod">
          <ac:chgData name="昶辰 練" userId="f6036a0ffaa21c7c" providerId="LiveId" clId="{D6416F6C-CEE6-614B-85A7-7CEDCAACC753}" dt="2023-05-15T11:51:10.528" v="5011" actId="20577"/>
          <ac:spMkLst>
            <pc:docMk/>
            <pc:sldMk cId="3761757239" sldId="1786"/>
            <ac:spMk id="3" creationId="{4D472C80-7AAB-DCE7-A322-6F2A73CD6DB9}"/>
          </ac:spMkLst>
        </pc:spChg>
        <pc:spChg chg="mod">
          <ac:chgData name="昶辰 練" userId="f6036a0ffaa21c7c" providerId="LiveId" clId="{D6416F6C-CEE6-614B-85A7-7CEDCAACC753}" dt="2023-05-15T11:50:48.058" v="4987" actId="1076"/>
          <ac:spMkLst>
            <pc:docMk/>
            <pc:sldMk cId="3761757239" sldId="1786"/>
            <ac:spMk id="4" creationId="{1C15C30F-75E4-5AA3-C4AB-FDD2854B3859}"/>
          </ac:spMkLst>
        </pc:spChg>
        <pc:picChg chg="add mod">
          <ac:chgData name="昶辰 練" userId="f6036a0ffaa21c7c" providerId="LiveId" clId="{D6416F6C-CEE6-614B-85A7-7CEDCAACC753}" dt="2023-05-15T11:50:43.549" v="4986" actId="14100"/>
          <ac:picMkLst>
            <pc:docMk/>
            <pc:sldMk cId="3761757239" sldId="1786"/>
            <ac:picMk id="5" creationId="{2D94599B-E1DB-2D0C-6114-9AE233C40C4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50528" cy="497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42" tIns="46170" rIns="92342" bIns="46170" numCol="1" anchor="t" anchorCtr="0" compatLnSpc="1">
            <a:prstTxWarp prst="textNoShape">
              <a:avLst/>
            </a:prstTxWarp>
          </a:bodyPr>
          <a:lstStyle>
            <a:lvl1pPr defTabSz="925400" eaLnBrk="1" hangingPunct="1">
              <a:defRPr kumimoji="1"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918" y="1"/>
            <a:ext cx="2953708" cy="497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42" tIns="46170" rIns="92342" bIns="46170" numCol="1" anchor="t" anchorCtr="0" compatLnSpc="1">
            <a:prstTxWarp prst="textNoShape">
              <a:avLst/>
            </a:prstTxWarp>
          </a:bodyPr>
          <a:lstStyle>
            <a:lvl1pPr algn="r" defTabSz="925400" eaLnBrk="1" hangingPunct="1">
              <a:defRPr kumimoji="1"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440228"/>
            <a:ext cx="2950528" cy="497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42" tIns="46170" rIns="92342" bIns="46170" numCol="1" anchor="b" anchorCtr="0" compatLnSpc="1">
            <a:prstTxWarp prst="textNoShape">
              <a:avLst/>
            </a:prstTxWarp>
          </a:bodyPr>
          <a:lstStyle>
            <a:lvl1pPr defTabSz="925400" eaLnBrk="1" hangingPunct="1">
              <a:defRPr kumimoji="1"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918" y="9440228"/>
            <a:ext cx="2953708" cy="497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42" tIns="46170" rIns="92342" bIns="46170" numCol="1" anchor="b" anchorCtr="0" compatLnSpc="1">
            <a:prstTxWarp prst="textNoShape">
              <a:avLst/>
            </a:prstTxWarp>
          </a:bodyPr>
          <a:lstStyle>
            <a:lvl1pPr algn="r" defTabSz="925400" eaLnBrk="1" hangingPunct="1">
              <a:defRPr kumimoji="1"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fld id="{8D21CDC0-673A-43C5-A543-AEB575F5A66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3576216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50528" cy="497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42" tIns="46170" rIns="92342" bIns="46170" numCol="1" anchor="t" anchorCtr="0" compatLnSpc="1">
            <a:prstTxWarp prst="textNoShape">
              <a:avLst/>
            </a:prstTxWarp>
          </a:bodyPr>
          <a:lstStyle>
            <a:lvl1pPr defTabSz="925400" eaLnBrk="1" hangingPunct="1">
              <a:defRPr kumimoji="1"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918" y="1"/>
            <a:ext cx="2953708" cy="497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42" tIns="46170" rIns="92342" bIns="46170" numCol="1" anchor="t" anchorCtr="0" compatLnSpc="1">
            <a:prstTxWarp prst="textNoShape">
              <a:avLst/>
            </a:prstTxWarp>
          </a:bodyPr>
          <a:lstStyle>
            <a:lvl1pPr algn="r" defTabSz="925400" eaLnBrk="1" hangingPunct="1">
              <a:defRPr kumimoji="1"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900" y="742950"/>
            <a:ext cx="6630988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0" y="4720917"/>
            <a:ext cx="6807200" cy="4472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42" tIns="46170" rIns="92342" bIns="461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40228"/>
            <a:ext cx="2950528" cy="497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42" tIns="46170" rIns="92342" bIns="46170" numCol="1" anchor="b" anchorCtr="0" compatLnSpc="1">
            <a:prstTxWarp prst="textNoShape">
              <a:avLst/>
            </a:prstTxWarp>
          </a:bodyPr>
          <a:lstStyle>
            <a:lvl1pPr defTabSz="925400" eaLnBrk="1" hangingPunct="1">
              <a:defRPr kumimoji="1"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918" y="9440228"/>
            <a:ext cx="2953708" cy="497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42" tIns="46170" rIns="92342" bIns="46170" numCol="1" anchor="b" anchorCtr="0" compatLnSpc="1">
            <a:prstTxWarp prst="textNoShape">
              <a:avLst/>
            </a:prstTxWarp>
          </a:bodyPr>
          <a:lstStyle>
            <a:lvl1pPr algn="r" defTabSz="925400" eaLnBrk="1" hangingPunct="1">
              <a:defRPr kumimoji="1"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fld id="{B094F487-B7CD-4E16-B5AC-A353A3DC418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057393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lnSpc>
        <a:spcPct val="150000"/>
      </a:lnSpc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微軟正黑體" panose="020B0604030504040204" pitchFamily="34" charset="-120"/>
        <a:ea typeface="微軟正黑體" panose="020B0604030504040204" pitchFamily="34" charset="-120"/>
        <a:cs typeface="+mn-cs"/>
      </a:defRPr>
    </a:lvl1pPr>
    <a:lvl2pPr marL="457200" algn="l" rtl="0" eaLnBrk="0" fontAlgn="base" hangingPunct="0">
      <a:lnSpc>
        <a:spcPct val="150000"/>
      </a:lnSpc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微軟正黑體" panose="020B0604030504040204" pitchFamily="34" charset="-120"/>
        <a:ea typeface="微軟正黑體" panose="020B0604030504040204" pitchFamily="34" charset="-120"/>
        <a:cs typeface="+mn-cs"/>
      </a:defRPr>
    </a:lvl2pPr>
    <a:lvl3pPr marL="914400" algn="l" rtl="0" eaLnBrk="0" fontAlgn="base" hangingPunct="0">
      <a:lnSpc>
        <a:spcPct val="150000"/>
      </a:lnSpc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微軟正黑體" panose="020B0604030504040204" pitchFamily="34" charset="-120"/>
        <a:ea typeface="微軟正黑體" panose="020B0604030504040204" pitchFamily="34" charset="-120"/>
        <a:cs typeface="+mn-cs"/>
      </a:defRPr>
    </a:lvl3pPr>
    <a:lvl4pPr marL="1371600" algn="l" rtl="0" eaLnBrk="0" fontAlgn="base" hangingPunct="0">
      <a:lnSpc>
        <a:spcPct val="150000"/>
      </a:lnSpc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微軟正黑體" panose="020B0604030504040204" pitchFamily="34" charset="-120"/>
        <a:ea typeface="微軟正黑體" panose="020B0604030504040204" pitchFamily="34" charset="-120"/>
        <a:cs typeface="+mn-cs"/>
      </a:defRPr>
    </a:lvl4pPr>
    <a:lvl5pPr marL="1828800" algn="l" rtl="0" eaLnBrk="0" fontAlgn="base" hangingPunct="0">
      <a:lnSpc>
        <a:spcPct val="150000"/>
      </a:lnSpc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微軟正黑體" panose="020B0604030504040204" pitchFamily="34" charset="-120"/>
        <a:ea typeface="微軟正黑體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6872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規劃作法：開戶畫面預設帶入洽談分公司</a:t>
            </a:r>
            <a:r>
              <a:rPr lang="en-US" altLang="zh-TW" dirty="0" smtClean="0"/>
              <a:t>(</a:t>
            </a:r>
            <a:r>
              <a:rPr lang="zh-TW" altLang="en-US" dirty="0" smtClean="0"/>
              <a:t>可更換</a:t>
            </a:r>
            <a:r>
              <a:rPr lang="en-US" altLang="zh-TW" dirty="0" smtClean="0"/>
              <a:t>)</a:t>
            </a:r>
          </a:p>
          <a:p>
            <a:r>
              <a:rPr lang="zh-TW" altLang="en-US" dirty="0" smtClean="0"/>
              <a:t>現行作法：依照通訊地址設定分公司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推薦碼流程規劃四大步驟</a:t>
            </a:r>
            <a:endParaRPr lang="en-US" altLang="zh-TW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推薦碼系統設定專案產出開戶連結</a:t>
            </a:r>
            <a:endParaRPr lang="en-US" altLang="zh-TW" dirty="0" smtClean="0"/>
          </a:p>
          <a:p>
            <a:r>
              <a:rPr lang="en-US" altLang="zh-TW" dirty="0" smtClean="0"/>
              <a:t>2.</a:t>
            </a:r>
            <a:r>
              <a:rPr lang="zh-TW" altLang="en-US" dirty="0" smtClean="0"/>
              <a:t>客戶進行開戶申請，並上傳專案辨識必要文件</a:t>
            </a:r>
            <a:endParaRPr lang="en-US" altLang="zh-TW" dirty="0" smtClean="0"/>
          </a:p>
          <a:p>
            <a:r>
              <a:rPr lang="en-US" altLang="zh-TW" dirty="0" smtClean="0"/>
              <a:t>3.</a:t>
            </a:r>
            <a:r>
              <a:rPr lang="zh-TW" altLang="en-US" dirty="0" smtClean="0"/>
              <a:t>客戶完成填寫後，進入開戶審核</a:t>
            </a:r>
            <a:endParaRPr lang="en-US" altLang="zh-TW" dirty="0" smtClean="0"/>
          </a:p>
          <a:p>
            <a:r>
              <a:rPr lang="en-US" altLang="zh-TW" dirty="0" smtClean="0"/>
              <a:t>4.</a:t>
            </a:r>
            <a:r>
              <a:rPr lang="zh-TW" altLang="en-US" dirty="0" smtClean="0"/>
              <a:t>後續再送出折讓申請，由系統啟動傳簽流程，並由開戶分公司後續完成傳簽程序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64415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第一階段主要以推薦碼系統建置為主</a:t>
            </a:r>
            <a:endParaRPr lang="en-US" altLang="zh-TW" dirty="0" smtClean="0"/>
          </a:p>
          <a:p>
            <a:r>
              <a:rPr lang="zh-TW" altLang="en-US" dirty="0" smtClean="0"/>
              <a:t>前端</a:t>
            </a:r>
            <a:r>
              <a:rPr lang="en-US" altLang="zh-TW" dirty="0" smtClean="0"/>
              <a:t>Web</a:t>
            </a:r>
            <a:r>
              <a:rPr lang="zh-TW" altLang="en-US" dirty="0" smtClean="0"/>
              <a:t>開戶介面因應推薦碼機制進行調整</a:t>
            </a:r>
            <a:endParaRPr lang="en-US" altLang="zh-TW" dirty="0" smtClean="0"/>
          </a:p>
          <a:p>
            <a:r>
              <a:rPr lang="zh-TW" altLang="en-US" dirty="0" smtClean="0"/>
              <a:t>以及專案辨識文件上傳需前後端同步有可儲存的欄位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推薦碼系統基礎功能包含建立專案、編輯與刪除功能、查詢功能等</a:t>
            </a:r>
            <a:endParaRPr lang="en-US" altLang="zh-TW" dirty="0" smtClean="0"/>
          </a:p>
          <a:p>
            <a:r>
              <a:rPr lang="zh-TW" altLang="en-US" dirty="0" smtClean="0"/>
              <a:t>另外初期使用權限僅開放總公司通路以及數金部使用</a:t>
            </a:r>
            <a:endParaRPr lang="en-US" altLang="zh-TW" dirty="0" smtClean="0"/>
          </a:p>
          <a:p>
            <a:r>
              <a:rPr lang="zh-TW" altLang="en-US" dirty="0" smtClean="0"/>
              <a:t>在手續費折讓申請需有相關設定欄位供後續資料串接使用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152519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下一階段主要規劃更多進階功能，包含新增</a:t>
            </a:r>
            <a:r>
              <a:rPr lang="en-US" altLang="zh-TW" dirty="0" smtClean="0"/>
              <a:t>MGM</a:t>
            </a:r>
            <a:r>
              <a:rPr lang="zh-TW" altLang="en-US" dirty="0" smtClean="0"/>
              <a:t>以及手續費流程調整，後續也需要各單位再評估可行性，以上就是今天的報告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045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3948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2046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5432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7143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3757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01358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9617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7657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F3F11-1684-4044-886B-8332240DFC2B}" type="datetime1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571CC-9DC5-44E5-A258-EDE077157B3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7735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B99C2B42-6629-4B58-894C-2F5735777D38}" type="datetime1">
              <a:rPr lang="zh-TW" altLang="en-US" smtClean="0"/>
              <a:pPr>
                <a:defRPr/>
              </a:pPr>
              <a:t>2026/4/23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C4C1269A-18B9-4406-BBF7-C81862D6268E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984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8" name="內容版面配置區 2"/>
          <p:cNvSpPr>
            <a:spLocks noGrp="1"/>
          </p:cNvSpPr>
          <p:nvPr>
            <p:ph idx="1"/>
          </p:nvPr>
        </p:nvSpPr>
        <p:spPr>
          <a:xfrm>
            <a:off x="838200" y="1128584"/>
            <a:ext cx="10515600" cy="5048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43704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9C2B42-6629-4B58-894C-2F5735777D38}" type="datetime1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C1269A-18B9-4406-BBF7-C81862D6268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cxnSp>
        <p:nvCxnSpPr>
          <p:cNvPr id="7" name="直線接點 6"/>
          <p:cNvCxnSpPr/>
          <p:nvPr userDrawn="1"/>
        </p:nvCxnSpPr>
        <p:spPr>
          <a:xfrm>
            <a:off x="668721" y="0"/>
            <a:ext cx="0" cy="129941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9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426C3E-DF0A-4EFD-9B01-C92C46CBD46D}" type="datetime1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C4D8CD-B9BC-4BDF-9366-222EB786EC8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910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A50B92-2746-4FE4-B468-231211D1147E}" type="datetime1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106D10-F716-4356-A7EA-6ED988867B1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0404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D0A54-36EA-48CD-BD05-F1539A243112}" type="datetime1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652DE-D201-46B9-A0D8-FF81C5762F4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597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DF87E-28B7-483C-AE02-AD09B7F3906E}" type="datetime1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21A5B-C5CF-4BF1-B720-68C8AD4B6B1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3043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B98CB-8563-4318-BF35-1BE5BAC5B4E0}" type="datetime1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152BFC-FC9F-48C9-A43E-A78C49B0642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1932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2750D2-AC38-4326-BE29-41DF67B9E989}" type="datetime1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ADE1ED-4497-416E-9143-20FC5A769B6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231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2189B-61FD-4243-913F-5AE154B77D4A}" type="datetime1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E9A15-6648-4724-9340-C442DFEB73F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730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EA455D-679D-4F82-BC91-182DD7A689B5}" type="datetime1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CBA88-B463-435A-AE21-24E5C2940A6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993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26B10-2DB9-430F-8CEF-1D01DA9530D1}" type="datetime1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19AAE-41A9-43C7-9A78-9D075F9E606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94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/>
          <p:cNvGrpSpPr/>
          <p:nvPr userDrawn="1"/>
        </p:nvGrpSpPr>
        <p:grpSpPr>
          <a:xfrm>
            <a:off x="11596092" y="-8313"/>
            <a:ext cx="595908" cy="6871392"/>
            <a:chOff x="11596092" y="-8313"/>
            <a:chExt cx="595908" cy="6871392"/>
          </a:xfrm>
        </p:grpSpPr>
        <p:sp>
          <p:nvSpPr>
            <p:cNvPr id="11" name="矩形 10"/>
            <p:cNvSpPr/>
            <p:nvPr userDrawn="1"/>
          </p:nvSpPr>
          <p:spPr>
            <a:xfrm>
              <a:off x="11596092" y="3886200"/>
              <a:ext cx="595908" cy="2976879"/>
            </a:xfrm>
            <a:prstGeom prst="rect">
              <a:avLst/>
            </a:prstGeom>
            <a:solidFill>
              <a:srgbClr val="009F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1596092" y="0"/>
              <a:ext cx="595908" cy="1600200"/>
            </a:xfrm>
            <a:prstGeom prst="rect">
              <a:avLst/>
            </a:prstGeom>
            <a:solidFill>
              <a:srgbClr val="0141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3" name="圖片 12"/>
            <p:cNvPicPr>
              <a:picLocks noChangeAspect="1"/>
            </p:cNvPicPr>
            <p:nvPr userDrawn="1"/>
          </p:nvPicPr>
          <p:blipFill rotWithShape="1"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596092" y="-8313"/>
              <a:ext cx="595908" cy="4393511"/>
            </a:xfrm>
            <a:prstGeom prst="rect">
              <a:avLst/>
            </a:prstGeom>
          </p:spPr>
        </p:pic>
      </p:grpSp>
      <p:sp>
        <p:nvSpPr>
          <p:cNvPr id="2050" name="標題版面配置區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49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2051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838200" y="1128584"/>
            <a:ext cx="10515600" cy="5048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defRPr>
            </a:lvl1pPr>
          </a:lstStyle>
          <a:p>
            <a:pPr>
              <a:defRPr/>
            </a:pPr>
            <a:fld id="{275F7700-AF36-40DE-88D5-B192B6A75305}" type="datetime1">
              <a:rPr lang="zh-TW" altLang="en-US" smtClean="0"/>
              <a:pPr>
                <a:defRPr/>
              </a:pPr>
              <a:t>2026/4/23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596092" y="6492875"/>
            <a:ext cx="595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lang="zh-TW" altLang="en-US" sz="1600" b="1" kern="12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>
              <a:defRPr/>
            </a:pPr>
            <a:fld id="{6CDA313B-6413-45D1-A28E-C880D5C53F4E}" type="slidenum">
              <a:rPr lang="en-US" altLang="zh-TW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32" r:id="rId3"/>
    <p:sldLayoutId id="2147484023" r:id="rId4"/>
    <p:sldLayoutId id="2147484024" r:id="rId5"/>
    <p:sldLayoutId id="2147484025" r:id="rId6"/>
    <p:sldLayoutId id="2147484026" r:id="rId7"/>
    <p:sldLayoutId id="2147484027" r:id="rId8"/>
    <p:sldLayoutId id="2147484028" r:id="rId9"/>
    <p:sldLayoutId id="2147484029" r:id="rId10"/>
    <p:sldLayoutId id="2147484030" r:id="rId11"/>
    <p:sldLayoutId id="2147484031" r:id="rId12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C1269A-18B9-4406-BBF7-C81862D6268E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3684810" y="2614916"/>
            <a:ext cx="446360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3600" cap="none" spc="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推薦碼後台管理</a:t>
            </a:r>
            <a:endParaRPr lang="zh-TW" altLang="en-US" sz="3600" cap="none" spc="0" dirty="0">
              <a:ln w="0"/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917216" y="4207026"/>
            <a:ext cx="1956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 b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通路事業部</a:t>
            </a:r>
          </a:p>
        </p:txBody>
      </p:sp>
    </p:spTree>
    <p:extLst>
      <p:ext uri="{BB962C8B-B14F-4D97-AF65-F5344CB8AC3E}">
        <p14:creationId xmlns:p14="http://schemas.microsoft.com/office/powerpoint/2010/main" val="45917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C1269A-18B9-4406-BBF7-C81862D6268E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  <p:grpSp>
        <p:nvGrpSpPr>
          <p:cNvPr id="89" name="群組 88"/>
          <p:cNvGrpSpPr/>
          <p:nvPr/>
        </p:nvGrpSpPr>
        <p:grpSpPr>
          <a:xfrm>
            <a:off x="-520877" y="1666530"/>
            <a:ext cx="216024" cy="2442446"/>
            <a:chOff x="-390293" y="1557204"/>
            <a:chExt cx="216024" cy="2442446"/>
          </a:xfrm>
        </p:grpSpPr>
        <p:sp>
          <p:nvSpPr>
            <p:cNvPr id="91" name="矩形 90"/>
            <p:cNvSpPr/>
            <p:nvPr/>
          </p:nvSpPr>
          <p:spPr>
            <a:xfrm>
              <a:off x="-390293" y="1557204"/>
              <a:ext cx="216024" cy="246584"/>
            </a:xfrm>
            <a:prstGeom prst="rect">
              <a:avLst/>
            </a:prstGeom>
            <a:solidFill>
              <a:srgbClr val="9ED0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-390293" y="1800864"/>
              <a:ext cx="216024" cy="246584"/>
            </a:xfrm>
            <a:prstGeom prst="rect">
              <a:avLst/>
            </a:prstGeom>
            <a:solidFill>
              <a:srgbClr val="42A3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-390293" y="2044524"/>
              <a:ext cx="216024" cy="24658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-390293" y="2534768"/>
              <a:ext cx="216024" cy="246584"/>
            </a:xfrm>
            <a:prstGeom prst="rect">
              <a:avLst/>
            </a:prstGeom>
            <a:solidFill>
              <a:srgbClr val="0D32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5" name="矩形 94"/>
            <p:cNvSpPr/>
            <p:nvPr/>
          </p:nvSpPr>
          <p:spPr>
            <a:xfrm>
              <a:off x="-390293" y="2291108"/>
              <a:ext cx="216024" cy="246584"/>
            </a:xfrm>
            <a:prstGeom prst="rect">
              <a:avLst/>
            </a:prstGeom>
            <a:solidFill>
              <a:srgbClr val="004D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9" name="矩形 98"/>
            <p:cNvSpPr/>
            <p:nvPr/>
          </p:nvSpPr>
          <p:spPr>
            <a:xfrm>
              <a:off x="-390293" y="2778428"/>
              <a:ext cx="216024" cy="246584"/>
            </a:xfrm>
            <a:prstGeom prst="rect">
              <a:avLst/>
            </a:prstGeom>
            <a:solidFill>
              <a:srgbClr val="FFBC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0" name="矩形 99"/>
            <p:cNvSpPr/>
            <p:nvPr/>
          </p:nvSpPr>
          <p:spPr>
            <a:xfrm>
              <a:off x="-390293" y="3022088"/>
              <a:ext cx="216024" cy="246584"/>
            </a:xfrm>
            <a:prstGeom prst="rect">
              <a:avLst/>
            </a:prstGeom>
            <a:solidFill>
              <a:srgbClr val="FFA6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1" name="矩形 100"/>
            <p:cNvSpPr/>
            <p:nvPr/>
          </p:nvSpPr>
          <p:spPr>
            <a:xfrm>
              <a:off x="-390293" y="3265748"/>
              <a:ext cx="216024" cy="246584"/>
            </a:xfrm>
            <a:prstGeom prst="rect">
              <a:avLst/>
            </a:prstGeom>
            <a:solidFill>
              <a:srgbClr val="82C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2" name="矩形 101"/>
            <p:cNvSpPr/>
            <p:nvPr/>
          </p:nvSpPr>
          <p:spPr>
            <a:xfrm>
              <a:off x="-390293" y="3509408"/>
              <a:ext cx="216024" cy="246584"/>
            </a:xfrm>
            <a:prstGeom prst="rect">
              <a:avLst/>
            </a:prstGeom>
            <a:solidFill>
              <a:srgbClr val="489F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-390293" y="3753066"/>
              <a:ext cx="216024" cy="246584"/>
            </a:xfrm>
            <a:prstGeom prst="rect">
              <a:avLst/>
            </a:prstGeom>
            <a:solidFill>
              <a:srgbClr val="1669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</p:grpSp>
      <p:sp>
        <p:nvSpPr>
          <p:cNvPr id="48" name="文字方塊 47"/>
          <p:cNvSpPr txBox="1"/>
          <p:nvPr/>
        </p:nvSpPr>
        <p:spPr>
          <a:xfrm>
            <a:off x="626525" y="223499"/>
            <a:ext cx="76926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推薦碼機制規劃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(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以第一階段預計開發功能規劃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50197" y="235787"/>
            <a:ext cx="184825" cy="5232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矩形 89"/>
          <p:cNvSpPr/>
          <p:nvPr/>
        </p:nvSpPr>
        <p:spPr>
          <a:xfrm>
            <a:off x="92690" y="1276576"/>
            <a:ext cx="3470787" cy="35705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推薦碼專案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與折讓設定</a:t>
            </a:r>
          </a:p>
        </p:txBody>
      </p:sp>
      <p:sp>
        <p:nvSpPr>
          <p:cNvPr id="98" name="矩形 97"/>
          <p:cNvSpPr/>
          <p:nvPr/>
        </p:nvSpPr>
        <p:spPr>
          <a:xfrm>
            <a:off x="92690" y="3356043"/>
            <a:ext cx="3470787" cy="357051"/>
          </a:xfrm>
          <a:prstGeom prst="rect">
            <a:avLst/>
          </a:prstGeom>
          <a:solidFill>
            <a:srgbClr val="42A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專屬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連結開戶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184830" y="3356043"/>
            <a:ext cx="3470787" cy="357051"/>
          </a:xfrm>
          <a:prstGeom prst="rect">
            <a:avLst/>
          </a:prstGeom>
          <a:solidFill>
            <a:srgbClr val="489F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開戶審核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2690" y="1683570"/>
            <a:ext cx="40145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推薦碼後台管理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--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管理權限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通路事業部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600" dirty="0"/>
          </a:p>
        </p:txBody>
      </p:sp>
      <p:sp>
        <p:nvSpPr>
          <p:cNvPr id="64" name="圓角矩形 63">
            <a:extLst>
              <a:ext uri="{FF2B5EF4-FFF2-40B4-BE49-F238E27FC236}">
                <a16:creationId xmlns:a16="http://schemas.microsoft.com/office/drawing/2014/main" id="{49F6330D-EF3D-4BA3-AF9F-75B5AC4A350A}"/>
              </a:ext>
            </a:extLst>
          </p:cNvPr>
          <p:cNvSpPr/>
          <p:nvPr/>
        </p:nvSpPr>
        <p:spPr>
          <a:xfrm>
            <a:off x="2441802" y="2164344"/>
            <a:ext cx="1647739" cy="610612"/>
          </a:xfrm>
          <a:prstGeom prst="roundRect">
            <a:avLst/>
          </a:prstGeom>
          <a:solidFill>
            <a:schemeClr val="bg1"/>
          </a:solidFill>
          <a:ln>
            <a:solidFill>
              <a:srgbClr val="004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設定推薦碼</a:t>
            </a:r>
            <a:endParaRPr lang="en-US" altLang="zh-TW" sz="16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填寫基本資料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圓角矩形 66">
            <a:extLst>
              <a:ext uri="{FF2B5EF4-FFF2-40B4-BE49-F238E27FC236}">
                <a16:creationId xmlns:a16="http://schemas.microsoft.com/office/drawing/2014/main" id="{49F6330D-EF3D-4BA3-AF9F-75B5AC4A350A}"/>
              </a:ext>
            </a:extLst>
          </p:cNvPr>
          <p:cNvSpPr/>
          <p:nvPr/>
        </p:nvSpPr>
        <p:spPr>
          <a:xfrm>
            <a:off x="295403" y="4172357"/>
            <a:ext cx="2987945" cy="688601"/>
          </a:xfrm>
          <a:prstGeom prst="roundRect">
            <a:avLst/>
          </a:prstGeom>
          <a:solidFill>
            <a:schemeClr val="bg1"/>
          </a:solidFill>
          <a:ln>
            <a:solidFill>
              <a:srgbClr val="004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點選開戶網址</a:t>
            </a:r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，填寫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開戶</a:t>
            </a:r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</a:t>
            </a:r>
            <a:endParaRPr lang="en-US" altLang="zh-TW" sz="16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直接輸入推薦碼</a:t>
            </a:r>
            <a:endParaRPr lang="en-US" altLang="zh-CN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菱形 69"/>
          <p:cNvSpPr>
            <a:spLocks noChangeAspect="1"/>
          </p:cNvSpPr>
          <p:nvPr/>
        </p:nvSpPr>
        <p:spPr>
          <a:xfrm>
            <a:off x="4747505" y="2115593"/>
            <a:ext cx="2005781" cy="708114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比對檢核</a:t>
            </a:r>
            <a:endParaRPr lang="en-US" altLang="zh-TW" sz="16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既有專案</a:t>
            </a:r>
            <a:endParaRPr lang="en-US" altLang="zh-TW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圓角矩形 70">
            <a:extLst>
              <a:ext uri="{FF2B5EF4-FFF2-40B4-BE49-F238E27FC236}">
                <a16:creationId xmlns:a16="http://schemas.microsoft.com/office/drawing/2014/main" id="{49F6330D-EF3D-4BA3-AF9F-75B5AC4A350A}"/>
              </a:ext>
            </a:extLst>
          </p:cNvPr>
          <p:cNvSpPr/>
          <p:nvPr/>
        </p:nvSpPr>
        <p:spPr>
          <a:xfrm>
            <a:off x="7411250" y="2160714"/>
            <a:ext cx="1647739" cy="610612"/>
          </a:xfrm>
          <a:prstGeom prst="roundRect">
            <a:avLst/>
          </a:prstGeom>
          <a:solidFill>
            <a:schemeClr val="bg1"/>
          </a:solidFill>
          <a:ln>
            <a:solidFill>
              <a:srgbClr val="004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產出推薦碼</a:t>
            </a:r>
            <a:endParaRPr lang="en-US" altLang="zh-TW" sz="16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與專屬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連結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2690" y="3786448"/>
            <a:ext cx="21925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客戶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endParaRPr lang="zh-TW" altLang="en-US" sz="1600" dirty="0"/>
          </a:p>
        </p:txBody>
      </p:sp>
      <p:sp>
        <p:nvSpPr>
          <p:cNvPr id="74" name="圓角矩形 73">
            <a:extLst>
              <a:ext uri="{FF2B5EF4-FFF2-40B4-BE49-F238E27FC236}">
                <a16:creationId xmlns:a16="http://schemas.microsoft.com/office/drawing/2014/main" id="{49F6330D-EF3D-4BA3-AF9F-75B5AC4A350A}"/>
              </a:ext>
            </a:extLst>
          </p:cNvPr>
          <p:cNvSpPr/>
          <p:nvPr/>
        </p:nvSpPr>
        <p:spPr>
          <a:xfrm>
            <a:off x="3433913" y="4172357"/>
            <a:ext cx="1932928" cy="688601"/>
          </a:xfrm>
          <a:prstGeom prst="roundRect">
            <a:avLst/>
          </a:prstGeom>
          <a:solidFill>
            <a:schemeClr val="bg1"/>
          </a:solidFill>
          <a:ln>
            <a:solidFill>
              <a:srgbClr val="004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選取服務分公司</a:t>
            </a:r>
            <a:endParaRPr lang="en-US" altLang="zh-TW" sz="16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預設洽談分公司</a:t>
            </a:r>
            <a:r>
              <a:rPr lang="en-US" altLang="zh-TW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77" name="圓角矩形 76">
            <a:extLst>
              <a:ext uri="{FF2B5EF4-FFF2-40B4-BE49-F238E27FC236}">
                <a16:creationId xmlns:a16="http://schemas.microsoft.com/office/drawing/2014/main" id="{49F6330D-EF3D-4BA3-AF9F-75B5AC4A350A}"/>
              </a:ext>
            </a:extLst>
          </p:cNvPr>
          <p:cNvSpPr/>
          <p:nvPr/>
        </p:nvSpPr>
        <p:spPr>
          <a:xfrm>
            <a:off x="5517407" y="4172357"/>
            <a:ext cx="1516857" cy="688601"/>
          </a:xfrm>
          <a:prstGeom prst="roundRect">
            <a:avLst/>
          </a:prstGeom>
          <a:solidFill>
            <a:schemeClr val="bg1"/>
          </a:solidFill>
          <a:ln>
            <a:solidFill>
              <a:srgbClr val="004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上傳</a:t>
            </a:r>
            <a:endParaRPr lang="en-US" altLang="zh-TW" sz="16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專案辨識文件</a:t>
            </a:r>
            <a:endParaRPr lang="en-US" altLang="zh-TW" sz="16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229598" y="3724892"/>
            <a:ext cx="39883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開戶網頁新增「專案辨識文件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員工證、名片等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」欄位</a:t>
            </a:r>
            <a:endParaRPr lang="en-US" altLang="zh-TW" sz="1200" b="0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AMS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後台需能儲存「專案辨識文件」資料</a:t>
            </a:r>
            <a:endParaRPr lang="en-US" altLang="zh-TW" sz="1200" b="0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7184830" y="3786448"/>
            <a:ext cx="24580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開戶審核後台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(AMS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600" dirty="0"/>
          </a:p>
        </p:txBody>
      </p:sp>
      <p:sp>
        <p:nvSpPr>
          <p:cNvPr id="82" name="圓角矩形 81">
            <a:extLst>
              <a:ext uri="{FF2B5EF4-FFF2-40B4-BE49-F238E27FC236}">
                <a16:creationId xmlns:a16="http://schemas.microsoft.com/office/drawing/2014/main" id="{49F6330D-EF3D-4BA3-AF9F-75B5AC4A350A}"/>
              </a:ext>
            </a:extLst>
          </p:cNvPr>
          <p:cNvSpPr/>
          <p:nvPr/>
        </p:nvSpPr>
        <p:spPr>
          <a:xfrm>
            <a:off x="7191459" y="4186559"/>
            <a:ext cx="2255352" cy="664398"/>
          </a:xfrm>
          <a:prstGeom prst="roundRect">
            <a:avLst/>
          </a:prstGeom>
          <a:solidFill>
            <a:schemeClr val="bg1"/>
          </a:solidFill>
          <a:ln>
            <a:solidFill>
              <a:srgbClr val="004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查詢現行有效推薦碼</a:t>
            </a:r>
            <a:endParaRPr lang="en-US" altLang="zh-TW" sz="16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並比對專案辨識文件</a:t>
            </a:r>
            <a:endParaRPr lang="en-US" altLang="zh-CN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圓角矩形 87">
            <a:extLst>
              <a:ext uri="{FF2B5EF4-FFF2-40B4-BE49-F238E27FC236}">
                <a16:creationId xmlns:a16="http://schemas.microsoft.com/office/drawing/2014/main" id="{49F6330D-EF3D-4BA3-AF9F-75B5AC4A350A}"/>
              </a:ext>
            </a:extLst>
          </p:cNvPr>
          <p:cNvSpPr/>
          <p:nvPr/>
        </p:nvSpPr>
        <p:spPr>
          <a:xfrm>
            <a:off x="9716951" y="2159468"/>
            <a:ext cx="1647739" cy="610612"/>
          </a:xfrm>
          <a:prstGeom prst="roundRect">
            <a:avLst/>
          </a:prstGeom>
          <a:solidFill>
            <a:schemeClr val="bg1"/>
          </a:solidFill>
          <a:ln>
            <a:solidFill>
              <a:srgbClr val="004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專屬連結</a:t>
            </a:r>
            <a:endParaRPr lang="en-US" altLang="zh-TW" sz="16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提供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分公司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圓角矩形 95">
            <a:extLst>
              <a:ext uri="{FF2B5EF4-FFF2-40B4-BE49-F238E27FC236}">
                <a16:creationId xmlns:a16="http://schemas.microsoft.com/office/drawing/2014/main" id="{49F6330D-EF3D-4BA3-AF9F-75B5AC4A350A}"/>
              </a:ext>
            </a:extLst>
          </p:cNvPr>
          <p:cNvSpPr/>
          <p:nvPr/>
        </p:nvSpPr>
        <p:spPr>
          <a:xfrm>
            <a:off x="9701101" y="4185708"/>
            <a:ext cx="1750936" cy="664398"/>
          </a:xfrm>
          <a:prstGeom prst="roundRect">
            <a:avLst/>
          </a:prstGeom>
          <a:solidFill>
            <a:schemeClr val="bg1"/>
          </a:solidFill>
          <a:ln>
            <a:solidFill>
              <a:srgbClr val="004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開戶完成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手續費折讓帶入</a:t>
            </a:r>
            <a:endParaRPr lang="en-US" altLang="zh-TW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" name="直線單箭頭接點 4"/>
          <p:cNvCxnSpPr>
            <a:stCxn id="64" idx="3"/>
            <a:endCxn id="70" idx="1"/>
          </p:cNvCxnSpPr>
          <p:nvPr/>
        </p:nvCxnSpPr>
        <p:spPr>
          <a:xfrm>
            <a:off x="4089541" y="2469650"/>
            <a:ext cx="6579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70" idx="3"/>
            <a:endCxn id="71" idx="1"/>
          </p:cNvCxnSpPr>
          <p:nvPr/>
        </p:nvCxnSpPr>
        <p:spPr>
          <a:xfrm flipV="1">
            <a:off x="6753286" y="2466020"/>
            <a:ext cx="657964" cy="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67" idx="3"/>
            <a:endCxn id="74" idx="1"/>
          </p:cNvCxnSpPr>
          <p:nvPr/>
        </p:nvCxnSpPr>
        <p:spPr>
          <a:xfrm>
            <a:off x="3283348" y="4516658"/>
            <a:ext cx="1505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74" idx="3"/>
            <a:endCxn id="77" idx="1"/>
          </p:cNvCxnSpPr>
          <p:nvPr/>
        </p:nvCxnSpPr>
        <p:spPr>
          <a:xfrm>
            <a:off x="5366841" y="4516658"/>
            <a:ext cx="1505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82" idx="3"/>
            <a:endCxn id="96" idx="1"/>
          </p:cNvCxnSpPr>
          <p:nvPr/>
        </p:nvCxnSpPr>
        <p:spPr>
          <a:xfrm flipV="1">
            <a:off x="9446811" y="4524113"/>
            <a:ext cx="254290" cy="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49F6330D-EF3D-4BA3-AF9F-75B5AC4A350A}"/>
              </a:ext>
            </a:extLst>
          </p:cNvPr>
          <p:cNvSpPr/>
          <p:nvPr/>
        </p:nvSpPr>
        <p:spPr>
          <a:xfrm>
            <a:off x="295403" y="2159468"/>
            <a:ext cx="1488435" cy="610612"/>
          </a:xfrm>
          <a:prstGeom prst="roundRect">
            <a:avLst/>
          </a:prstGeom>
          <a:solidFill>
            <a:schemeClr val="bg1"/>
          </a:solidFill>
          <a:ln>
            <a:solidFill>
              <a:srgbClr val="004D8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折讓優惠</a:t>
            </a:r>
            <a:endParaRPr lang="en-US" altLang="zh-TW" sz="16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公文上簽</a:t>
            </a:r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審核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40214" y="2776312"/>
            <a:ext cx="31431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僅金融特約商需先上折讓優惠公文</a:t>
            </a:r>
            <a:endParaRPr lang="en-US" altLang="zh-TW" sz="1200" b="0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優惠內容是否需報公會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待與雙法確認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14" name="直線單箭頭接點 13"/>
          <p:cNvCxnSpPr>
            <a:stCxn id="40" idx="3"/>
            <a:endCxn id="64" idx="1"/>
          </p:cNvCxnSpPr>
          <p:nvPr/>
        </p:nvCxnSpPr>
        <p:spPr>
          <a:xfrm>
            <a:off x="1783838" y="2464774"/>
            <a:ext cx="657964" cy="4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71" idx="3"/>
            <a:endCxn id="88" idx="1"/>
          </p:cNvCxnSpPr>
          <p:nvPr/>
        </p:nvCxnSpPr>
        <p:spPr>
          <a:xfrm flipV="1">
            <a:off x="9058989" y="2464774"/>
            <a:ext cx="657962" cy="1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92690" y="87324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作業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流程規劃</a:t>
            </a:r>
            <a:endParaRPr lang="zh-TW" altLang="en-US" sz="2000" dirty="0"/>
          </a:p>
        </p:txBody>
      </p:sp>
      <p:sp>
        <p:nvSpPr>
          <p:cNvPr id="43" name="矩形 42"/>
          <p:cNvSpPr/>
          <p:nvPr/>
        </p:nvSpPr>
        <p:spPr>
          <a:xfrm>
            <a:off x="86938" y="514306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編碼規劃</a:t>
            </a:r>
            <a:endParaRPr lang="zh-TW" altLang="en-US" sz="2000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49F6330D-EF3D-4BA3-AF9F-75B5AC4A350A}"/>
              </a:ext>
            </a:extLst>
          </p:cNvPr>
          <p:cNvSpPr/>
          <p:nvPr/>
        </p:nvSpPr>
        <p:spPr>
          <a:xfrm>
            <a:off x="610033" y="5604238"/>
            <a:ext cx="1326920" cy="320568"/>
          </a:xfrm>
          <a:prstGeom prst="roundRect">
            <a:avLst/>
          </a:prstGeom>
          <a:solidFill>
            <a:schemeClr val="bg1"/>
          </a:solidFill>
          <a:ln>
            <a:solidFill>
              <a:srgbClr val="004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專案類型</a:t>
            </a:r>
            <a:endParaRPr lang="en-US" altLang="zh-CN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10033" y="5964088"/>
            <a:ext cx="273257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MGM(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透過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系統生成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：特約商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手動設定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異業合作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手動設定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dirty="0"/>
          </a:p>
        </p:txBody>
      </p:sp>
      <p:sp>
        <p:nvSpPr>
          <p:cNvPr id="50" name="圓角矩形 49">
            <a:extLst>
              <a:ext uri="{FF2B5EF4-FFF2-40B4-BE49-F238E27FC236}">
                <a16:creationId xmlns:a16="http://schemas.microsoft.com/office/drawing/2014/main" id="{49F6330D-EF3D-4BA3-AF9F-75B5AC4A350A}"/>
              </a:ext>
            </a:extLst>
          </p:cNvPr>
          <p:cNvSpPr/>
          <p:nvPr/>
        </p:nvSpPr>
        <p:spPr>
          <a:xfrm>
            <a:off x="3614266" y="5604238"/>
            <a:ext cx="1326920" cy="320568"/>
          </a:xfrm>
          <a:prstGeom prst="roundRect">
            <a:avLst/>
          </a:prstGeom>
          <a:solidFill>
            <a:schemeClr val="bg1"/>
          </a:solidFill>
          <a:ln>
            <a:solidFill>
              <a:srgbClr val="004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代碼</a:t>
            </a:r>
            <a:endParaRPr lang="en-US" altLang="zh-CN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3614266" y="5964088"/>
            <a:ext cx="273257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MGM-MG</a:t>
            </a:r>
          </a:p>
          <a:p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特約商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-BC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異業合作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-BE</a:t>
            </a:r>
            <a:endParaRPr lang="zh-TW" altLang="en-US" sz="1400" dirty="0"/>
          </a:p>
        </p:txBody>
      </p:sp>
      <p:cxnSp>
        <p:nvCxnSpPr>
          <p:cNvPr id="7" name="直線單箭頭接點 6"/>
          <p:cNvCxnSpPr>
            <a:endCxn id="51" idx="1"/>
          </p:cNvCxnSpPr>
          <p:nvPr/>
        </p:nvCxnSpPr>
        <p:spPr>
          <a:xfrm>
            <a:off x="2414584" y="6331941"/>
            <a:ext cx="1199682" cy="1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2532928" y="6542035"/>
            <a:ext cx="10813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49F6330D-EF3D-4BA3-AF9F-75B5AC4A350A}"/>
              </a:ext>
            </a:extLst>
          </p:cNvPr>
          <p:cNvSpPr/>
          <p:nvPr/>
        </p:nvSpPr>
        <p:spPr>
          <a:xfrm>
            <a:off x="6069978" y="5604238"/>
            <a:ext cx="1326920" cy="320568"/>
          </a:xfrm>
          <a:prstGeom prst="roundRect">
            <a:avLst/>
          </a:prstGeom>
          <a:solidFill>
            <a:schemeClr val="bg1"/>
          </a:solidFill>
          <a:ln>
            <a:solidFill>
              <a:srgbClr val="004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</a:t>
            </a:r>
            <a:endParaRPr lang="en-US" altLang="zh-CN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065025" y="5953741"/>
            <a:ext cx="524925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MGM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代碼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碼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(MG)+【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系統依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生成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碼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  <a:p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特約商：專案代碼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碼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(BC)+【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股票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西元年份尾數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碼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  <a:p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異業合作：專案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BE)+【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推薦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碼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英文或數字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)】</a:t>
            </a:r>
            <a:endParaRPr lang="zh-TW" altLang="en-US" sz="1400" dirty="0"/>
          </a:p>
        </p:txBody>
      </p:sp>
      <p:cxnSp>
        <p:nvCxnSpPr>
          <p:cNvPr id="13" name="直線單箭頭接點 12"/>
          <p:cNvCxnSpPr>
            <a:endCxn id="56" idx="1"/>
          </p:cNvCxnSpPr>
          <p:nvPr/>
        </p:nvCxnSpPr>
        <p:spPr>
          <a:xfrm>
            <a:off x="4601495" y="6323073"/>
            <a:ext cx="14635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4787460" y="6532203"/>
            <a:ext cx="1299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1901986" y="5626022"/>
            <a:ext cx="12618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推薦碼產生規則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5" name="直線單箭頭接點 64"/>
          <p:cNvCxnSpPr/>
          <p:nvPr/>
        </p:nvCxnSpPr>
        <p:spPr>
          <a:xfrm>
            <a:off x="2900514" y="6121847"/>
            <a:ext cx="713752" cy="1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>
            <a:off x="4601494" y="6121847"/>
            <a:ext cx="1463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7401050" y="5628013"/>
            <a:ext cx="10454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推薦碼共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碼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86938" y="5020538"/>
            <a:ext cx="11383192" cy="983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8845" y="1231621"/>
            <a:ext cx="11383192" cy="202590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/>
          <p:cNvSpPr/>
          <p:nvPr/>
        </p:nvSpPr>
        <p:spPr>
          <a:xfrm>
            <a:off x="74440" y="5143060"/>
            <a:ext cx="11383192" cy="165903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0467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4535" y="259160"/>
            <a:ext cx="10515600" cy="499847"/>
          </a:xfrm>
        </p:spPr>
        <p:txBody>
          <a:bodyPr/>
          <a:lstStyle/>
          <a:p>
            <a:r>
              <a:rPr lang="zh-TW" altLang="en-US" dirty="0" smtClean="0"/>
              <a:t>推薦碼機制功能規劃</a:t>
            </a:r>
            <a:r>
              <a:rPr lang="en-US" altLang="zh-TW" dirty="0" smtClean="0"/>
              <a:t>(</a:t>
            </a:r>
            <a:r>
              <a:rPr lang="zh-TW" altLang="en-US" dirty="0" smtClean="0"/>
              <a:t>第一階段</a:t>
            </a:r>
            <a:r>
              <a:rPr lang="en-US" altLang="zh-TW" dirty="0" smtClean="0"/>
              <a:t>-</a:t>
            </a:r>
            <a:r>
              <a:rPr lang="zh-TW" altLang="en-US" dirty="0" smtClean="0"/>
              <a:t>基礎功能架構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521A5B-C5CF-4BF1-B720-68C8AD4B6B11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50197" y="235787"/>
            <a:ext cx="184825" cy="5232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205191"/>
              </p:ext>
            </p:extLst>
          </p:nvPr>
        </p:nvGraphicFramePr>
        <p:xfrm>
          <a:off x="329054" y="871672"/>
          <a:ext cx="10968212" cy="5925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152">
                  <a:extLst>
                    <a:ext uri="{9D8B030D-6E8A-4147-A177-3AD203B41FA5}">
                      <a16:colId xmlns:a16="http://schemas.microsoft.com/office/drawing/2014/main" val="2559934746"/>
                    </a:ext>
                  </a:extLst>
                </a:gridCol>
                <a:gridCol w="1091381">
                  <a:extLst>
                    <a:ext uri="{9D8B030D-6E8A-4147-A177-3AD203B41FA5}">
                      <a16:colId xmlns:a16="http://schemas.microsoft.com/office/drawing/2014/main" val="271951318"/>
                    </a:ext>
                  </a:extLst>
                </a:gridCol>
                <a:gridCol w="658761">
                  <a:extLst>
                    <a:ext uri="{9D8B030D-6E8A-4147-A177-3AD203B41FA5}">
                      <a16:colId xmlns:a16="http://schemas.microsoft.com/office/drawing/2014/main" val="4015099151"/>
                    </a:ext>
                  </a:extLst>
                </a:gridCol>
                <a:gridCol w="8386918">
                  <a:extLst>
                    <a:ext uri="{9D8B030D-6E8A-4147-A177-3AD203B41FA5}">
                      <a16:colId xmlns:a16="http://schemas.microsoft.com/office/drawing/2014/main" val="371830157"/>
                    </a:ext>
                  </a:extLst>
                </a:gridCol>
              </a:tblGrid>
              <a:tr h="394909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類別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項目名稱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257399"/>
                  </a:ext>
                </a:extLst>
              </a:tr>
              <a:tr h="2301384">
                <a:tc rowSpan="3">
                  <a:txBody>
                    <a:bodyPr/>
                    <a:lstStyle/>
                    <a:p>
                      <a:pPr algn="ctr"/>
                      <a:r>
                        <a:rPr kumimoji="1" lang="zh-TW" altLang="en-US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中</a:t>
                      </a:r>
                      <a:r>
                        <a:rPr kumimoji="1" lang="en-US" altLang="zh-TW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kumimoji="1" lang="zh-TW" altLang="en-US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後端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kumimoji="1" lang="zh-TW" altLang="en-US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推薦碼</a:t>
                      </a:r>
                      <a:endParaRPr kumimoji="1" lang="en-US" altLang="zh-TW" sz="1400" dirty="0" smtClean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ctr"/>
                      <a:r>
                        <a:rPr kumimoji="1" lang="zh-TW" altLang="en-US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後台管理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推薦碼後台管理機制開發建置：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「建立」功能：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UcPeriod"/>
                        <a:tabLst/>
                        <a:defRPr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設定專案內容</a:t>
                      </a:r>
                      <a:r>
                        <a:rPr lang="en-US" altLang="zh-TW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起訖日、基本資料、推薦碼</a:t>
                      </a:r>
                      <a:r>
                        <a:rPr lang="en-US" altLang="zh-TW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，系統比對檢核既有專案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UcPeriod"/>
                        <a:tabLst/>
                        <a:defRPr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比對完成後，才產出帶有推薦碼之專屬連結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65113" marR="0" lvl="0" indent="-265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「編輯」功能：僅開放編輯「專案迄日」，其他皆反灰不可點選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「刪除」功能：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UcPeriod"/>
                        <a:tabLst/>
                        <a:defRPr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推薦碼使用紀錄刪除，推薦碼與專屬連結失效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UcPeriod"/>
                        <a:tabLst/>
                        <a:defRPr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已使用紀錄會留存</a:t>
                      </a:r>
                      <a:r>
                        <a:rPr lang="en-US" altLang="zh-TW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送出開戶申請就算已使用</a:t>
                      </a:r>
                      <a:r>
                        <a:rPr lang="en-US" altLang="zh-TW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「查詢」功能：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UcPeriod"/>
                        <a:tabLst/>
                        <a:defRPr/>
                      </a:pPr>
                      <a:r>
                        <a:rPr lang="zh-TW" altLang="en-US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查詢已建立的推薦碼專案</a:t>
                      </a:r>
                      <a:endParaRPr lang="en-US" altLang="zh-TW" sz="1400" kern="1200" dirty="0" smtClean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UcPeriod"/>
                        <a:tabLst/>
                        <a:defRPr/>
                      </a:pPr>
                      <a:r>
                        <a:rPr lang="zh-TW" altLang="en-US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查詢各推薦碼開戶成功的客戶資料</a:t>
                      </a:r>
                      <a:endParaRPr lang="en-US" altLang="zh-TW" sz="1400" kern="1200" dirty="0" smtClean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516202"/>
                  </a:ext>
                </a:extLst>
              </a:tr>
              <a:tr h="395649">
                <a:tc vMerge="1">
                  <a:txBody>
                    <a:bodyPr/>
                    <a:lstStyle/>
                    <a:p>
                      <a:pPr algn="ctr"/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zh-TW" altLang="en-US" sz="1400" dirty="0" smtClean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「新增、編輯、刪除」管理權限：通路事業部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0785472"/>
                  </a:ext>
                </a:extLst>
              </a:tr>
              <a:tr h="891786">
                <a:tc vMerge="1">
                  <a:txBody>
                    <a:bodyPr/>
                    <a:lstStyle/>
                    <a:p>
                      <a:pPr algn="ctr"/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手續費折讓串接推薦碼：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lvl="0" indent="0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zh-TW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在建立推薦碼前，通路事業部需先至公文系統上簽手續費折讓簽呈，並完成簽核</a:t>
                      </a:r>
                      <a:r>
                        <a:rPr lang="en-US" altLang="zh-TW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推薦碼建立完成，如為金融特約商類別，將折讓與推薦碼跟專屬連結串接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客戶開戶完成後，即可直接適用優惠，無須再送折讓申請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173744"/>
                  </a:ext>
                </a:extLst>
              </a:tr>
              <a:tr h="37767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zh-TW" altLang="en-US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前端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Web</a:t>
                      </a:r>
                    </a:p>
                    <a:p>
                      <a:pPr algn="ctr"/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開戶介面</a:t>
                      </a:r>
                      <a:endParaRPr kumimoji="1" lang="zh-TW" altLang="en-US" sz="1400" dirty="0" smtClean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「預設分公司」欄位邏輯調整，預設為洽談分公司，但開放使用者選取其他分公司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513869"/>
                  </a:ext>
                </a:extLst>
              </a:tr>
              <a:tr h="489044">
                <a:tc vMerge="1">
                  <a:txBody>
                    <a:bodyPr/>
                    <a:lstStyle/>
                    <a:p>
                      <a:pPr algn="ctr"/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kumimoji="1" lang="zh-TW" altLang="en-US" sz="1400" dirty="0" smtClean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身分證明文件新增可上傳「專案文件」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zh-TW" altLang="en-US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如員工證等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當客戶透過專屬連結進來或輸入有效推薦碼後，且推薦碼為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BC(</a:t>
                      </a:r>
                      <a:r>
                        <a:rPr lang="zh-TW" altLang="en-US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金融特約商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r>
                        <a:rPr lang="zh-TW" altLang="en-US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，才顯示相關上傳欄位</a:t>
                      </a:r>
                      <a:endParaRPr lang="en-US" altLang="zh-TW" sz="1400" kern="1200" dirty="0" smtClean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41482"/>
                  </a:ext>
                </a:extLst>
              </a:tr>
              <a:tr h="4600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中</a:t>
                      </a:r>
                      <a:r>
                        <a:rPr kumimoji="1" lang="en-US" altLang="zh-TW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kumimoji="1" lang="zh-TW" altLang="en-US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後端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AMS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審核介面帶出推薦碼資料</a:t>
                      </a:r>
                      <a:r>
                        <a:rPr lang="en-US" altLang="zh-TW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特約商明細等</a:t>
                      </a:r>
                      <a:r>
                        <a:rPr lang="en-US" altLang="zh-TW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，以比對檢核專案文件是否符合資格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521276"/>
                  </a:ext>
                </a:extLst>
              </a:tr>
              <a:tr h="3956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中</a:t>
                      </a:r>
                      <a:r>
                        <a:rPr kumimoji="1" lang="en-US" altLang="zh-TW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kumimoji="1" lang="zh-TW" altLang="en-US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後端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CRM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倉儲系統串接推薦碼管理，以供未來進行成效追蹤分析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106674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2251586" y="4100052"/>
            <a:ext cx="9045679" cy="92727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50197" y="6390967"/>
            <a:ext cx="10947068" cy="37426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3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4535" y="259160"/>
            <a:ext cx="10515600" cy="499847"/>
          </a:xfrm>
        </p:spPr>
        <p:txBody>
          <a:bodyPr/>
          <a:lstStyle/>
          <a:p>
            <a:r>
              <a:rPr lang="zh-TW" altLang="en-US" dirty="0"/>
              <a:t>推薦碼機制功能規劃</a:t>
            </a:r>
            <a:r>
              <a:rPr lang="en-US" altLang="zh-TW" dirty="0"/>
              <a:t>(</a:t>
            </a:r>
            <a:r>
              <a:rPr lang="zh-TW" altLang="en-US" dirty="0" smtClean="0"/>
              <a:t>第二階段</a:t>
            </a:r>
            <a:r>
              <a:rPr lang="en-US" altLang="zh-TW" dirty="0" smtClean="0"/>
              <a:t>-MGM</a:t>
            </a:r>
            <a:r>
              <a:rPr lang="zh-TW" altLang="en-US" dirty="0" smtClean="0"/>
              <a:t>功能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521A5B-C5CF-4BF1-B720-68C8AD4B6B11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50197" y="235787"/>
            <a:ext cx="184825" cy="5232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33256"/>
              </p:ext>
            </p:extLst>
          </p:nvPr>
        </p:nvGraphicFramePr>
        <p:xfrm>
          <a:off x="350197" y="924234"/>
          <a:ext cx="10972138" cy="5161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600">
                  <a:extLst>
                    <a:ext uri="{9D8B030D-6E8A-4147-A177-3AD203B41FA5}">
                      <a16:colId xmlns:a16="http://schemas.microsoft.com/office/drawing/2014/main" val="2559934746"/>
                    </a:ext>
                  </a:extLst>
                </a:gridCol>
                <a:gridCol w="1090800">
                  <a:extLst>
                    <a:ext uri="{9D8B030D-6E8A-4147-A177-3AD203B41FA5}">
                      <a16:colId xmlns:a16="http://schemas.microsoft.com/office/drawing/2014/main" val="271951318"/>
                    </a:ext>
                  </a:extLst>
                </a:gridCol>
                <a:gridCol w="661738">
                  <a:extLst>
                    <a:ext uri="{9D8B030D-6E8A-4147-A177-3AD203B41FA5}">
                      <a16:colId xmlns:a16="http://schemas.microsoft.com/office/drawing/2014/main" val="4015099151"/>
                    </a:ext>
                  </a:extLst>
                </a:gridCol>
                <a:gridCol w="8388000">
                  <a:extLst>
                    <a:ext uri="{9D8B030D-6E8A-4147-A177-3AD203B41FA5}">
                      <a16:colId xmlns:a16="http://schemas.microsoft.com/office/drawing/2014/main" val="371830157"/>
                    </a:ext>
                  </a:extLst>
                </a:gridCol>
              </a:tblGrid>
              <a:tr h="824516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類別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項目名稱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257399"/>
                  </a:ext>
                </a:extLst>
              </a:tr>
              <a:tr h="1773675"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中</a:t>
                      </a:r>
                      <a:r>
                        <a:rPr kumimoji="1" lang="en-US" altLang="zh-TW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kumimoji="1" lang="zh-TW" altLang="en-US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後端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推薦碼</a:t>
                      </a:r>
                      <a:endParaRPr kumimoji="1" lang="en-US" altLang="zh-TW" sz="1400" dirty="0" smtClean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ctr"/>
                      <a:r>
                        <a:rPr kumimoji="1" lang="zh-TW" altLang="en-US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管理系統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MGM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機制開發：系統自動產出推薦碼機制規劃</a:t>
                      </a:r>
                      <a:r>
                        <a:rPr lang="en-US" altLang="zh-TW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前後端搭配</a:t>
                      </a:r>
                      <a:r>
                        <a:rPr lang="en-US" altLang="zh-TW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516202"/>
                  </a:ext>
                </a:extLst>
              </a:tr>
              <a:tr h="2563743"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前端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投資先生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kumimoji="1" lang="en-US" altLang="zh-TW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App</a:t>
                      </a:r>
                      <a:endParaRPr kumimoji="1" lang="zh-TW" altLang="en-US" sz="1400" dirty="0" smtClean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400" dirty="0" smtClean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endParaRPr kumimoji="1"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MGM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入口開發</a:t>
                      </a:r>
                      <a:r>
                        <a:rPr lang="zh-TW" altLang="en-US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：投資先生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App</a:t>
                      </a:r>
                      <a:r>
                        <a:rPr lang="zh-TW" altLang="en-US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建立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MGM</a:t>
                      </a:r>
                      <a:r>
                        <a:rPr lang="zh-TW" altLang="en-US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入口，當客戶點擊進入後立即串接後台管理系統產出推薦碼，若是已產生過推薦碼者則查詢其推薦碼，並回傳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App</a:t>
                      </a:r>
                      <a:r>
                        <a:rPr lang="zh-TW" altLang="en-US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顯示可供分享的連結或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QR code</a:t>
                      </a:r>
                      <a:endParaRPr lang="zh-TW" altLang="en-US" sz="1400" kern="1200" dirty="0" smtClean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513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91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521A5B-C5CF-4BF1-B720-68C8AD4B6B11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1132114" y="291737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TW" altLang="en-US" sz="40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附件</a:t>
            </a:r>
            <a:endParaRPr kumimoji="1" lang="zh-TW" altLang="en-US" sz="4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85576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文字方塊 158"/>
          <p:cNvSpPr txBox="1"/>
          <p:nvPr/>
        </p:nvSpPr>
        <p:spPr>
          <a:xfrm>
            <a:off x="535022" y="223499"/>
            <a:ext cx="104792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推薦碼後台</a:t>
            </a:r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 </a:t>
            </a:r>
            <a:r>
              <a:rPr lang="en-US" altLang="zh-TW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初步示意圖</a:t>
            </a:r>
            <a:r>
              <a:rPr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350197" y="235787"/>
            <a:ext cx="184825" cy="5232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1" name="矩形 160"/>
          <p:cNvSpPr/>
          <p:nvPr/>
        </p:nvSpPr>
        <p:spPr>
          <a:xfrm>
            <a:off x="85241" y="791783"/>
            <a:ext cx="5841395" cy="27160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Step1.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專案申請</a:t>
            </a:r>
          </a:p>
        </p:txBody>
      </p:sp>
      <p:grpSp>
        <p:nvGrpSpPr>
          <p:cNvPr id="177" name="群組 176"/>
          <p:cNvGrpSpPr/>
          <p:nvPr/>
        </p:nvGrpSpPr>
        <p:grpSpPr>
          <a:xfrm>
            <a:off x="-520877" y="1666530"/>
            <a:ext cx="216024" cy="2442446"/>
            <a:chOff x="-390293" y="1557204"/>
            <a:chExt cx="216024" cy="2442446"/>
          </a:xfrm>
        </p:grpSpPr>
        <p:sp>
          <p:nvSpPr>
            <p:cNvPr id="178" name="矩形 177"/>
            <p:cNvSpPr/>
            <p:nvPr/>
          </p:nvSpPr>
          <p:spPr>
            <a:xfrm>
              <a:off x="-390293" y="1557204"/>
              <a:ext cx="216024" cy="246584"/>
            </a:xfrm>
            <a:prstGeom prst="rect">
              <a:avLst/>
            </a:prstGeom>
            <a:solidFill>
              <a:srgbClr val="9ED0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79" name="矩形 178"/>
            <p:cNvSpPr/>
            <p:nvPr/>
          </p:nvSpPr>
          <p:spPr>
            <a:xfrm>
              <a:off x="-390293" y="1800864"/>
              <a:ext cx="216024" cy="246584"/>
            </a:xfrm>
            <a:prstGeom prst="rect">
              <a:avLst/>
            </a:prstGeom>
            <a:solidFill>
              <a:srgbClr val="42A3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80" name="矩形 179"/>
            <p:cNvSpPr/>
            <p:nvPr/>
          </p:nvSpPr>
          <p:spPr>
            <a:xfrm>
              <a:off x="-390293" y="2044524"/>
              <a:ext cx="216024" cy="24658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81" name="矩形 180"/>
            <p:cNvSpPr/>
            <p:nvPr/>
          </p:nvSpPr>
          <p:spPr>
            <a:xfrm>
              <a:off x="-390293" y="2534768"/>
              <a:ext cx="216024" cy="246584"/>
            </a:xfrm>
            <a:prstGeom prst="rect">
              <a:avLst/>
            </a:prstGeom>
            <a:solidFill>
              <a:srgbClr val="0D32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82" name="矩形 181"/>
            <p:cNvSpPr/>
            <p:nvPr/>
          </p:nvSpPr>
          <p:spPr>
            <a:xfrm>
              <a:off x="-390293" y="2291108"/>
              <a:ext cx="216024" cy="246584"/>
            </a:xfrm>
            <a:prstGeom prst="rect">
              <a:avLst/>
            </a:prstGeom>
            <a:solidFill>
              <a:srgbClr val="004D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83" name="矩形 182"/>
            <p:cNvSpPr/>
            <p:nvPr/>
          </p:nvSpPr>
          <p:spPr>
            <a:xfrm>
              <a:off x="-390293" y="2778428"/>
              <a:ext cx="216024" cy="246584"/>
            </a:xfrm>
            <a:prstGeom prst="rect">
              <a:avLst/>
            </a:prstGeom>
            <a:solidFill>
              <a:srgbClr val="FFBC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84" name="矩形 183"/>
            <p:cNvSpPr/>
            <p:nvPr/>
          </p:nvSpPr>
          <p:spPr>
            <a:xfrm>
              <a:off x="-390293" y="3022088"/>
              <a:ext cx="216024" cy="246584"/>
            </a:xfrm>
            <a:prstGeom prst="rect">
              <a:avLst/>
            </a:prstGeom>
            <a:solidFill>
              <a:srgbClr val="FFA6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85" name="矩形 184"/>
            <p:cNvSpPr/>
            <p:nvPr/>
          </p:nvSpPr>
          <p:spPr>
            <a:xfrm>
              <a:off x="-390293" y="3265748"/>
              <a:ext cx="216024" cy="246584"/>
            </a:xfrm>
            <a:prstGeom prst="rect">
              <a:avLst/>
            </a:prstGeom>
            <a:solidFill>
              <a:srgbClr val="82C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86" name="矩形 185"/>
            <p:cNvSpPr/>
            <p:nvPr/>
          </p:nvSpPr>
          <p:spPr>
            <a:xfrm>
              <a:off x="-390293" y="3509408"/>
              <a:ext cx="216024" cy="246584"/>
            </a:xfrm>
            <a:prstGeom prst="rect">
              <a:avLst/>
            </a:prstGeom>
            <a:solidFill>
              <a:srgbClr val="489F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87" name="矩形 186"/>
            <p:cNvSpPr/>
            <p:nvPr/>
          </p:nvSpPr>
          <p:spPr>
            <a:xfrm>
              <a:off x="-390293" y="3753066"/>
              <a:ext cx="216024" cy="246584"/>
            </a:xfrm>
            <a:prstGeom prst="rect">
              <a:avLst/>
            </a:prstGeom>
            <a:solidFill>
              <a:srgbClr val="1669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</p:grpSp>
      <p:sp>
        <p:nvSpPr>
          <p:cNvPr id="119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11596092" y="6492875"/>
            <a:ext cx="595908" cy="365125"/>
          </a:xfrm>
        </p:spPr>
        <p:txBody>
          <a:bodyPr/>
          <a:lstStyle/>
          <a:p>
            <a:pPr>
              <a:defRPr/>
            </a:pPr>
            <a:fld id="{9B521A5B-C5CF-4BF1-B720-68C8AD4B6B11}" type="slidenum">
              <a:rPr lang="zh-TW" altLang="en-US" smtClean="0"/>
              <a:pPr>
                <a:defRPr/>
              </a:pPr>
              <a:t>6</a:t>
            </a:fld>
            <a:endParaRPr lang="zh-TW" altLang="en-US" dirty="0"/>
          </a:p>
        </p:txBody>
      </p:sp>
      <p:pic>
        <p:nvPicPr>
          <p:cNvPr id="114" name="圖片 1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5" b="21873"/>
          <a:stretch/>
        </p:blipFill>
        <p:spPr>
          <a:xfrm>
            <a:off x="85241" y="1052213"/>
            <a:ext cx="5831372" cy="2339916"/>
          </a:xfrm>
          <a:prstGeom prst="rect">
            <a:avLst/>
          </a:prstGeom>
        </p:spPr>
      </p:pic>
      <p:sp>
        <p:nvSpPr>
          <p:cNvPr id="209" name="矩形 208"/>
          <p:cNvSpPr/>
          <p:nvPr/>
        </p:nvSpPr>
        <p:spPr>
          <a:xfrm>
            <a:off x="6044082" y="782213"/>
            <a:ext cx="5451926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Step2. 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專案編輯或刪除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10" name="圖片 20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082" y="1063386"/>
            <a:ext cx="5448085" cy="2745159"/>
          </a:xfrm>
          <a:prstGeom prst="rect">
            <a:avLst/>
          </a:prstGeom>
        </p:spPr>
      </p:pic>
      <p:pic>
        <p:nvPicPr>
          <p:cNvPr id="211" name="圖片 2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082" y="3883081"/>
            <a:ext cx="4522839" cy="2268431"/>
          </a:xfrm>
          <a:prstGeom prst="rect">
            <a:avLst/>
          </a:prstGeom>
        </p:spPr>
      </p:pic>
      <p:pic>
        <p:nvPicPr>
          <p:cNvPr id="212" name="圖片 2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2" t="29045" r="35008" b="28523"/>
          <a:stretch/>
        </p:blipFill>
        <p:spPr>
          <a:xfrm>
            <a:off x="9404825" y="5469318"/>
            <a:ext cx="1768809" cy="1267127"/>
          </a:xfrm>
          <a:prstGeom prst="rect">
            <a:avLst/>
          </a:prstGeom>
        </p:spPr>
      </p:pic>
      <p:cxnSp>
        <p:nvCxnSpPr>
          <p:cNvPr id="213" name="肘形接點 212"/>
          <p:cNvCxnSpPr>
            <a:endCxn id="212" idx="1"/>
          </p:cNvCxnSpPr>
          <p:nvPr/>
        </p:nvCxnSpPr>
        <p:spPr>
          <a:xfrm>
            <a:off x="8662219" y="5469318"/>
            <a:ext cx="742606" cy="633564"/>
          </a:xfrm>
          <a:prstGeom prst="bentConnector3">
            <a:avLst>
              <a:gd name="adj1" fmla="val -31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5" name="表格 2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881866"/>
              </p:ext>
            </p:extLst>
          </p:nvPr>
        </p:nvGraphicFramePr>
        <p:xfrm>
          <a:off x="6181607" y="2927082"/>
          <a:ext cx="5195464" cy="12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274">
                  <a:extLst>
                    <a:ext uri="{9D8B030D-6E8A-4147-A177-3AD203B41FA5}">
                      <a16:colId xmlns:a16="http://schemas.microsoft.com/office/drawing/2014/main" val="573852725"/>
                    </a:ext>
                  </a:extLst>
                </a:gridCol>
                <a:gridCol w="645190">
                  <a:extLst>
                    <a:ext uri="{9D8B030D-6E8A-4147-A177-3AD203B41FA5}">
                      <a16:colId xmlns:a16="http://schemas.microsoft.com/office/drawing/2014/main" val="259521656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90777944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65702321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32366938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4719907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151929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4076688266"/>
                    </a:ext>
                  </a:extLst>
                </a:gridCol>
              </a:tblGrid>
              <a:tr h="148898">
                <a:tc>
                  <a:txBody>
                    <a:bodyPr/>
                    <a:lstStyle/>
                    <a:p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專案類型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分公司</a:t>
                      </a: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公司名稱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ID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推薦碼</a:t>
                      </a: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專案起訖日</a:t>
                      </a: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優惠狀態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806745"/>
                  </a:ext>
                </a:extLst>
              </a:tr>
              <a:tr h="248164">
                <a:tc>
                  <a:txBody>
                    <a:bodyPr/>
                    <a:lstStyle/>
                    <a:p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BC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經紀部</a:t>
                      </a:r>
                      <a:r>
                        <a:rPr lang="en-US" altLang="zh-TW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(9887)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台積電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12345678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BC233026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2025/1/1-2025/12/1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進行中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extLst>
                  <a:ext uri="{0D108BD9-81ED-4DB2-BD59-A6C34878D82A}">
                    <a16:rowId xmlns:a16="http://schemas.microsoft.com/office/drawing/2014/main" val="2548165778"/>
                  </a:ext>
                </a:extLst>
              </a:tr>
              <a:tr h="248164">
                <a:tc>
                  <a:txBody>
                    <a:bodyPr/>
                    <a:lstStyle/>
                    <a:p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BE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總公司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優步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23456789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BEUBERET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2025/1/1-2025/6/30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已過期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extLst>
                  <a:ext uri="{0D108BD9-81ED-4DB2-BD59-A6C34878D82A}">
                    <a16:rowId xmlns:a16="http://schemas.microsoft.com/office/drawing/2014/main" val="619531487"/>
                  </a:ext>
                </a:extLst>
              </a:tr>
              <a:tr h="248164">
                <a:tc>
                  <a:txBody>
                    <a:bodyPr/>
                    <a:lstStyle/>
                    <a:p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MG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--(</a:t>
                      </a:r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空白</a:t>
                      </a:r>
                      <a:r>
                        <a:rPr lang="en-US" altLang="zh-TW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--(</a:t>
                      </a: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空白</a:t>
                      </a:r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9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B123456789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MGABC001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2026/1/1-2026/12/30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進行中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extLst>
                  <a:ext uri="{0D108BD9-81ED-4DB2-BD59-A6C34878D82A}">
                    <a16:rowId xmlns:a16="http://schemas.microsoft.com/office/drawing/2014/main" val="3157530487"/>
                  </a:ext>
                </a:extLst>
              </a:tr>
            </a:tbl>
          </a:graphicData>
        </a:graphic>
      </p:graphicFrame>
      <p:sp>
        <p:nvSpPr>
          <p:cNvPr id="216" name="矩形 215"/>
          <p:cNvSpPr/>
          <p:nvPr/>
        </p:nvSpPr>
        <p:spPr>
          <a:xfrm>
            <a:off x="6255149" y="3231352"/>
            <a:ext cx="150424" cy="1504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7" name="矩形 216"/>
          <p:cNvSpPr/>
          <p:nvPr/>
        </p:nvSpPr>
        <p:spPr>
          <a:xfrm>
            <a:off x="6255149" y="3591421"/>
            <a:ext cx="150424" cy="1504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8" name="文字方塊 217"/>
          <p:cNvSpPr txBox="1"/>
          <p:nvPr/>
        </p:nvSpPr>
        <p:spPr>
          <a:xfrm>
            <a:off x="6193945" y="3549676"/>
            <a:ext cx="2728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TW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</a:t>
            </a:r>
            <a:endParaRPr kumimoji="1" lang="zh-TW" alt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6255149" y="3927316"/>
            <a:ext cx="150424" cy="1504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50" y="5317353"/>
            <a:ext cx="3956087" cy="1127877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50" y="3739604"/>
            <a:ext cx="3940963" cy="1529782"/>
          </a:xfrm>
          <a:prstGeom prst="rect">
            <a:avLst/>
          </a:prstGeom>
        </p:spPr>
      </p:pic>
      <p:sp>
        <p:nvSpPr>
          <p:cNvPr id="220" name="文字方塊 219"/>
          <p:cNvSpPr txBox="1"/>
          <p:nvPr/>
        </p:nvSpPr>
        <p:spPr>
          <a:xfrm>
            <a:off x="2293865" y="1393112"/>
            <a:ext cx="28135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/>
            </a:pP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點擊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「推薦碼建立」後，跳出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申請介面</a:t>
            </a:r>
            <a:endParaRPr kumimoji="1" lang="en-US" altLang="zh-TW" sz="1100" dirty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1" name="文字方塊 220"/>
          <p:cNvSpPr txBox="1"/>
          <p:nvPr/>
        </p:nvSpPr>
        <p:spPr>
          <a:xfrm>
            <a:off x="1379838" y="1902677"/>
            <a:ext cx="3147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2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專案類型勾選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分別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跳出不同申請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介面</a:t>
            </a:r>
            <a:endParaRPr kumimoji="1" lang="en-US" altLang="zh-TW" sz="1100" dirty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7" name="文字方塊 226"/>
          <p:cNvSpPr txBox="1"/>
          <p:nvPr/>
        </p:nvSpPr>
        <p:spPr>
          <a:xfrm>
            <a:off x="70307" y="2418189"/>
            <a:ext cx="50385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3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勾選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，跳出「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MGM-MG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」申請介面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(A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專案類型僅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MG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，反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灰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不提供選取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230" name="文字方塊 229"/>
          <p:cNvSpPr txBox="1"/>
          <p:nvPr/>
        </p:nvSpPr>
        <p:spPr>
          <a:xfrm>
            <a:off x="3000927" y="2659112"/>
            <a:ext cx="17347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4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填寫「專案起迄日」</a:t>
            </a:r>
            <a:endParaRPr kumimoji="1" lang="en-US" altLang="zh-TW" sz="1100" dirty="0" smtClean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5" name="文字方塊 234"/>
          <p:cNvSpPr txBox="1"/>
          <p:nvPr/>
        </p:nvSpPr>
        <p:spPr>
          <a:xfrm>
            <a:off x="80330" y="3390949"/>
            <a:ext cx="48285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Wingdings" panose="05000000000000000000" pitchFamily="2" charset="2"/>
              <a:buAutoNum type="circleNumWdWhitePlain" startAt="3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勾選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，專案代碼下拉選單選取「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金融特約商</a:t>
            </a:r>
            <a:r>
              <a:rPr kumimoji="1" lang="en-US" altLang="zh-TW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-BC 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」或「異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業合作</a:t>
            </a:r>
            <a:r>
              <a:rPr kumimoji="1" lang="en-US" altLang="zh-TW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BE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</a:t>
            </a:r>
            <a:endParaRPr kumimoji="1" lang="en-US" altLang="zh-TW" sz="1100" dirty="0" smtClean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1" name="文字方塊 240"/>
          <p:cNvSpPr txBox="1"/>
          <p:nvPr/>
        </p:nvSpPr>
        <p:spPr>
          <a:xfrm>
            <a:off x="2731714" y="3681636"/>
            <a:ext cx="17347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4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填寫「專案起迄日」</a:t>
            </a:r>
            <a:endParaRPr kumimoji="1" lang="en-US" altLang="zh-TW" sz="1100" dirty="0" smtClean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1" name="文字方塊 250"/>
          <p:cNvSpPr txBox="1"/>
          <p:nvPr/>
        </p:nvSpPr>
        <p:spPr>
          <a:xfrm>
            <a:off x="2731714" y="4222909"/>
            <a:ext cx="2969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5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填寫「分公司、公司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名稱、</a:t>
            </a:r>
            <a:r>
              <a:rPr kumimoji="1" lang="en-US" altLang="zh-TW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、推薦碼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</a:t>
            </a:r>
            <a:endParaRPr kumimoji="1" lang="en-US" altLang="zh-TW" sz="1100" dirty="0" smtClean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2" name="文字方塊 251"/>
          <p:cNvSpPr txBox="1"/>
          <p:nvPr/>
        </p:nvSpPr>
        <p:spPr>
          <a:xfrm>
            <a:off x="1157311" y="4952209"/>
            <a:ext cx="37690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6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填寫「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折讓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條件」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此步驟僅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BC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才有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253" name="矩形 252"/>
          <p:cNvSpPr/>
          <p:nvPr/>
        </p:nvSpPr>
        <p:spPr>
          <a:xfrm>
            <a:off x="85241" y="2680965"/>
            <a:ext cx="5846306" cy="694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4" name="矩形 253"/>
          <p:cNvSpPr/>
          <p:nvPr/>
        </p:nvSpPr>
        <p:spPr>
          <a:xfrm>
            <a:off x="80330" y="3668433"/>
            <a:ext cx="5846306" cy="2824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1" name="文字方塊 280"/>
          <p:cNvSpPr txBox="1"/>
          <p:nvPr/>
        </p:nvSpPr>
        <p:spPr>
          <a:xfrm>
            <a:off x="9164562" y="1282525"/>
            <a:ext cx="22493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/>
            </a:pPr>
            <a:r>
              <a:rPr kumimoji="1" lang="zh-TW" altLang="en-US" sz="1100" dirty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</a:t>
            </a:r>
            <a:r>
              <a:rPr kumimoji="1" lang="zh-TW" altLang="en-US" sz="1100" dirty="0" smtClean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擊「編輯</a:t>
            </a:r>
            <a:r>
              <a:rPr kumimoji="1" lang="zh-TW" altLang="en-US" sz="1100" dirty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</a:t>
            </a:r>
            <a:r>
              <a:rPr kumimoji="1" lang="zh-TW" altLang="en-US" sz="1100" dirty="0" smtClean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刪除」跳出介面</a:t>
            </a:r>
            <a:endParaRPr kumimoji="1" lang="en-US" altLang="zh-TW" sz="1100" dirty="0">
              <a:solidFill>
                <a:srgbClr val="FFC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2" name="文字方塊 281"/>
          <p:cNvSpPr txBox="1"/>
          <p:nvPr/>
        </p:nvSpPr>
        <p:spPr>
          <a:xfrm>
            <a:off x="6193945" y="1664110"/>
            <a:ext cx="34525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2"/>
            </a:pPr>
            <a:r>
              <a:rPr kumimoji="1" lang="zh-TW" altLang="en-US" sz="1100" dirty="0" smtClean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查詢可用「專案代碼」或輸入</a:t>
            </a:r>
            <a:r>
              <a:rPr kumimoji="1" lang="zh-TW" altLang="en-US" sz="1100" dirty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</a:t>
            </a:r>
            <a:r>
              <a:rPr kumimoji="1" lang="en-US" altLang="zh-TW" sz="1100" dirty="0" smtClean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</a:t>
            </a:r>
            <a:r>
              <a:rPr kumimoji="1" lang="zh-TW" altLang="en-US" sz="1100" dirty="0" smtClean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」，點選查詢</a:t>
            </a:r>
            <a:endParaRPr kumimoji="1" lang="en-US" altLang="zh-TW" sz="1100" dirty="0">
              <a:solidFill>
                <a:srgbClr val="FFC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3" name="文字方塊 282"/>
          <p:cNvSpPr txBox="1"/>
          <p:nvPr/>
        </p:nvSpPr>
        <p:spPr>
          <a:xfrm>
            <a:off x="9646534" y="2044390"/>
            <a:ext cx="18456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3"/>
            </a:pPr>
            <a:r>
              <a:rPr kumimoji="1" lang="zh-TW" altLang="en-US" sz="1100" dirty="0" smtClean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「編輯或刪除」預設反灰不可點選，如有勾選左方方格</a:t>
            </a:r>
            <a:r>
              <a:rPr kumimoji="1" lang="en-US" altLang="zh-TW" sz="1100" dirty="0" smtClean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1100" dirty="0" smtClean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僅單選</a:t>
            </a:r>
            <a:r>
              <a:rPr kumimoji="1" lang="en-US" altLang="zh-TW" sz="1100" dirty="0" smtClean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kumimoji="1" lang="zh-TW" altLang="en-US" sz="1100" dirty="0" smtClean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，才可「編輯或刪除」</a:t>
            </a:r>
            <a:endParaRPr kumimoji="1" lang="en-US" altLang="zh-TW" sz="1100" dirty="0" smtClean="0">
              <a:solidFill>
                <a:srgbClr val="FFC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4" name="文字方塊 283"/>
          <p:cNvSpPr txBox="1"/>
          <p:nvPr/>
        </p:nvSpPr>
        <p:spPr>
          <a:xfrm>
            <a:off x="6003090" y="5629030"/>
            <a:ext cx="28266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Wingdings" panose="05000000000000000000" pitchFamily="2" charset="2"/>
              <a:buAutoNum type="circleNumWdWhitePlain" startAt="4"/>
            </a:pPr>
            <a:r>
              <a:rPr kumimoji="1" lang="zh-TW" altLang="en-US" sz="1100" dirty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點擊「刪除」</a:t>
            </a:r>
            <a:r>
              <a:rPr kumimoji="1" lang="zh-TW" altLang="en-US" sz="1100" dirty="0" smtClean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</a:t>
            </a:r>
            <a:endParaRPr kumimoji="1" lang="en-US" altLang="zh-TW" sz="1100" dirty="0" smtClean="0">
              <a:solidFill>
                <a:srgbClr val="FFC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28600" indent="-228600">
              <a:buFont typeface="Wingdings" panose="05000000000000000000" pitchFamily="2" charset="2"/>
              <a:buAutoNum type="circleNumWdWhitePlain" startAt="4"/>
            </a:pPr>
            <a:r>
              <a:rPr kumimoji="1" lang="zh-TW" altLang="en-US" sz="1100" dirty="0" smtClean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</a:t>
            </a:r>
            <a:r>
              <a:rPr kumimoji="1" lang="zh-TW" altLang="en-US" sz="1100" dirty="0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推薦碼已有使用紀錄，跳再確認彈窗</a:t>
            </a:r>
          </a:p>
        </p:txBody>
      </p:sp>
      <p:cxnSp>
        <p:nvCxnSpPr>
          <p:cNvPr id="14" name="直線接點 13"/>
          <p:cNvCxnSpPr/>
          <p:nvPr/>
        </p:nvCxnSpPr>
        <p:spPr>
          <a:xfrm>
            <a:off x="208250" y="5294556"/>
            <a:ext cx="531572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" name="圖片 28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51" t="79927" r="1515" b="5480"/>
          <a:stretch/>
        </p:blipFill>
        <p:spPr>
          <a:xfrm>
            <a:off x="4886941" y="6501236"/>
            <a:ext cx="984905" cy="437076"/>
          </a:xfrm>
          <a:prstGeom prst="rect">
            <a:avLst/>
          </a:prstGeom>
        </p:spPr>
      </p:pic>
      <p:sp>
        <p:nvSpPr>
          <p:cNvPr id="250" name="文字方塊 249"/>
          <p:cNvSpPr txBox="1"/>
          <p:nvPr/>
        </p:nvSpPr>
        <p:spPr>
          <a:xfrm>
            <a:off x="3852722" y="6549203"/>
            <a:ext cx="12618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7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點選「送出」</a:t>
            </a:r>
            <a:endParaRPr kumimoji="1" lang="en-US" altLang="zh-TW" sz="1100" dirty="0" smtClean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379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521A5B-C5CF-4BF1-B720-68C8AD4B6B11}" type="slidenum">
              <a:rPr lang="zh-TW" altLang="en-US" smtClean="0"/>
              <a:pPr>
                <a:defRPr/>
              </a:pPr>
              <a:t>7</a:t>
            </a:fld>
            <a:endParaRPr lang="zh-TW" altLang="en-US" dirty="0"/>
          </a:p>
        </p:txBody>
      </p:sp>
      <p:sp>
        <p:nvSpPr>
          <p:cNvPr id="159" name="文字方塊 158"/>
          <p:cNvSpPr txBox="1"/>
          <p:nvPr/>
        </p:nvSpPr>
        <p:spPr>
          <a:xfrm>
            <a:off x="535022" y="223499"/>
            <a:ext cx="104792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推薦碼後台</a:t>
            </a:r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r>
              <a:rPr lang="en-US" altLang="zh-TW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初步示意圖</a:t>
            </a:r>
            <a:r>
              <a:rPr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350197" y="235787"/>
            <a:ext cx="184825" cy="5232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/>
          <p:cNvSpPr/>
          <p:nvPr/>
        </p:nvSpPr>
        <p:spPr>
          <a:xfrm>
            <a:off x="106767" y="824212"/>
            <a:ext cx="6635676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Step3. 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專案查詢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5" name="圖片 6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57"/>
          <a:stretch/>
        </p:blipFill>
        <p:spPr>
          <a:xfrm>
            <a:off x="106767" y="1094213"/>
            <a:ext cx="6635677" cy="2750200"/>
          </a:xfrm>
          <a:prstGeom prst="rect">
            <a:avLst/>
          </a:prstGeom>
        </p:spPr>
      </p:pic>
      <p:pic>
        <p:nvPicPr>
          <p:cNvPr id="67" name="圖片 6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37" b="13780"/>
          <a:stretch/>
        </p:blipFill>
        <p:spPr>
          <a:xfrm>
            <a:off x="106766" y="4139380"/>
            <a:ext cx="6635677" cy="2541639"/>
          </a:xfrm>
          <a:prstGeom prst="rect">
            <a:avLst/>
          </a:prstGeom>
        </p:spPr>
      </p:pic>
      <p:graphicFrame>
        <p:nvGraphicFramePr>
          <p:cNvPr id="76" name="表格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769780"/>
              </p:ext>
            </p:extLst>
          </p:nvPr>
        </p:nvGraphicFramePr>
        <p:xfrm>
          <a:off x="8207351" y="1691711"/>
          <a:ext cx="2895254" cy="2458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1184115263"/>
                    </a:ext>
                  </a:extLst>
                </a:gridCol>
                <a:gridCol w="724548">
                  <a:extLst>
                    <a:ext uri="{9D8B030D-6E8A-4147-A177-3AD203B41FA5}">
                      <a16:colId xmlns:a16="http://schemas.microsoft.com/office/drawing/2014/main" val="3699570751"/>
                    </a:ext>
                  </a:extLst>
                </a:gridCol>
                <a:gridCol w="724548">
                  <a:extLst>
                    <a:ext uri="{9D8B030D-6E8A-4147-A177-3AD203B41FA5}">
                      <a16:colId xmlns:a16="http://schemas.microsoft.com/office/drawing/2014/main" val="444700460"/>
                    </a:ext>
                  </a:extLst>
                </a:gridCol>
                <a:gridCol w="798158">
                  <a:extLst>
                    <a:ext uri="{9D8B030D-6E8A-4147-A177-3AD203B41FA5}">
                      <a16:colId xmlns:a16="http://schemas.microsoft.com/office/drawing/2014/main" val="4444013"/>
                    </a:ext>
                  </a:extLst>
                </a:gridCol>
              </a:tblGrid>
              <a:tr h="34557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開戶日期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分公司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客戶姓名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客戶帳號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104077"/>
                  </a:ext>
                </a:extLst>
              </a:tr>
              <a:tr h="5282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2025/3/1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經紀部</a:t>
                      </a:r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(9887)</a:t>
                      </a:r>
                      <a:endParaRPr lang="zh-TW" altLang="en-US" sz="9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王大明</a:t>
                      </a: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9831234</a:t>
                      </a:r>
                      <a:endParaRPr lang="zh-TW" altLang="en-US" sz="900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extLst>
                  <a:ext uri="{0D108BD9-81ED-4DB2-BD59-A6C34878D82A}">
                    <a16:rowId xmlns:a16="http://schemas.microsoft.com/office/drawing/2014/main" val="792050182"/>
                  </a:ext>
                </a:extLst>
              </a:tr>
              <a:tr h="5282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2025/5/6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經紀部</a:t>
                      </a:r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(9887)</a:t>
                      </a:r>
                      <a:endParaRPr lang="zh-TW" altLang="en-US" sz="9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方小維</a:t>
                      </a:r>
                      <a:endParaRPr lang="en-US" altLang="zh-TW" sz="900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9824567</a:t>
                      </a:r>
                      <a:endParaRPr lang="zh-TW" altLang="en-US" sz="900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extLst>
                  <a:ext uri="{0D108BD9-81ED-4DB2-BD59-A6C34878D82A}">
                    <a16:rowId xmlns:a16="http://schemas.microsoft.com/office/drawing/2014/main" val="3728627177"/>
                  </a:ext>
                </a:extLst>
              </a:tr>
              <a:tr h="5282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2025/6/1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經紀部</a:t>
                      </a:r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(9887)</a:t>
                      </a:r>
                      <a:endParaRPr lang="zh-TW" altLang="en-US" sz="9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林小君</a:t>
                      </a: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9831567</a:t>
                      </a:r>
                      <a:endParaRPr lang="zh-TW" altLang="en-US" sz="900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extLst>
                  <a:ext uri="{0D108BD9-81ED-4DB2-BD59-A6C34878D82A}">
                    <a16:rowId xmlns:a16="http://schemas.microsoft.com/office/drawing/2014/main" val="1310396017"/>
                  </a:ext>
                </a:extLst>
              </a:tr>
              <a:tr h="5282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2025/6/6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經紀部</a:t>
                      </a:r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(9887)</a:t>
                      </a:r>
                      <a:endParaRPr lang="zh-TW" altLang="en-US" sz="9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方小辰</a:t>
                      </a:r>
                      <a:endParaRPr lang="en-US" altLang="zh-TW" sz="900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9824999</a:t>
                      </a:r>
                      <a:endParaRPr lang="zh-TW" altLang="en-US" sz="900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extLst>
                  <a:ext uri="{0D108BD9-81ED-4DB2-BD59-A6C34878D82A}">
                    <a16:rowId xmlns:a16="http://schemas.microsoft.com/office/drawing/2014/main" val="378235851"/>
                  </a:ext>
                </a:extLst>
              </a:tr>
            </a:tbl>
          </a:graphicData>
        </a:graphic>
      </p:graphicFrame>
      <p:sp>
        <p:nvSpPr>
          <p:cNvPr id="78" name="文字方塊 77"/>
          <p:cNvSpPr txBox="1"/>
          <p:nvPr/>
        </p:nvSpPr>
        <p:spPr>
          <a:xfrm>
            <a:off x="3587511" y="5021188"/>
            <a:ext cx="25419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100" dirty="0" smtClean="0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點擊「推薦碼」，展開客戶資料查看</a:t>
            </a:r>
            <a:endParaRPr kumimoji="1" lang="en-US" altLang="zh-TW" sz="1100" dirty="0">
              <a:solidFill>
                <a:srgbClr val="C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4" name="肘形接點 3"/>
          <p:cNvCxnSpPr>
            <a:stCxn id="78" idx="3"/>
          </p:cNvCxnSpPr>
          <p:nvPr/>
        </p:nvCxnSpPr>
        <p:spPr>
          <a:xfrm flipV="1">
            <a:off x="6129494" y="4150246"/>
            <a:ext cx="4371358" cy="1001747"/>
          </a:xfrm>
          <a:prstGeom prst="bentConnector3">
            <a:avLst>
              <a:gd name="adj1" fmla="val 100158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1267751" y="3643057"/>
            <a:ext cx="287610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註：推薦人</a:t>
            </a:r>
            <a:r>
              <a:rPr lang="en-US" altLang="zh-TW" sz="110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sz="110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相同，推薦</a:t>
            </a:r>
            <a:r>
              <a:rPr lang="zh-TW" altLang="en-US" sz="11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碼後六碼必須</a:t>
            </a:r>
            <a:r>
              <a:rPr lang="zh-TW" altLang="en-US" sz="110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相同</a:t>
            </a:r>
            <a:endParaRPr lang="en-US" altLang="zh-TW" sz="11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48897" y="3205423"/>
            <a:ext cx="1426866" cy="43763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文字方塊 81"/>
          <p:cNvSpPr txBox="1"/>
          <p:nvPr/>
        </p:nvSpPr>
        <p:spPr>
          <a:xfrm>
            <a:off x="111553" y="1280123"/>
            <a:ext cx="44646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/>
            </a:pP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點擊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「推薦碼查詢」後，選取「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MG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」或「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BC/BE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」跳出查詢介面</a:t>
            </a:r>
            <a:endParaRPr kumimoji="1" lang="en-US" altLang="zh-TW" sz="1100" dirty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182595" y="6196298"/>
            <a:ext cx="39612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2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查詢可勾選「專案代碼」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可複選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選取「專案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起日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」、輸入「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」或「推薦碼」，點選查詢。跳出查詢結果</a:t>
            </a:r>
            <a:endParaRPr kumimoji="1" lang="en-US" altLang="zh-TW" sz="1100" dirty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89869" y="1853998"/>
            <a:ext cx="58267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2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查詢可選取「使用日期」、輸入「推薦碼」、「推薦者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」、「使用者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」，點選查詢</a:t>
            </a:r>
            <a:endParaRPr kumimoji="1" lang="en-US" altLang="zh-TW" sz="1100" dirty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89869" y="1541733"/>
            <a:ext cx="6652574" cy="23537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矩形 94"/>
          <p:cNvSpPr/>
          <p:nvPr/>
        </p:nvSpPr>
        <p:spPr>
          <a:xfrm>
            <a:off x="114514" y="4134155"/>
            <a:ext cx="6652574" cy="24991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9" name="表格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898688"/>
              </p:ext>
            </p:extLst>
          </p:nvPr>
        </p:nvGraphicFramePr>
        <p:xfrm>
          <a:off x="2018461" y="4180291"/>
          <a:ext cx="7865264" cy="895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235">
                  <a:extLst>
                    <a:ext uri="{9D8B030D-6E8A-4147-A177-3AD203B41FA5}">
                      <a16:colId xmlns:a16="http://schemas.microsoft.com/office/drawing/2014/main" val="2595216564"/>
                    </a:ext>
                  </a:extLst>
                </a:gridCol>
                <a:gridCol w="510284">
                  <a:extLst>
                    <a:ext uri="{9D8B030D-6E8A-4147-A177-3AD203B41FA5}">
                      <a16:colId xmlns:a16="http://schemas.microsoft.com/office/drawing/2014/main" val="3907779444"/>
                    </a:ext>
                  </a:extLst>
                </a:gridCol>
                <a:gridCol w="619631">
                  <a:extLst>
                    <a:ext uri="{9D8B030D-6E8A-4147-A177-3AD203B41FA5}">
                      <a16:colId xmlns:a16="http://schemas.microsoft.com/office/drawing/2014/main" val="1657023217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32366938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47199079"/>
                    </a:ext>
                  </a:extLst>
                </a:gridCol>
                <a:gridCol w="801876">
                  <a:extLst>
                    <a:ext uri="{9D8B030D-6E8A-4147-A177-3AD203B41FA5}">
                      <a16:colId xmlns:a16="http://schemas.microsoft.com/office/drawing/2014/main" val="2151929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04884461"/>
                    </a:ext>
                  </a:extLst>
                </a:gridCol>
                <a:gridCol w="3156238">
                  <a:extLst>
                    <a:ext uri="{9D8B030D-6E8A-4147-A177-3AD203B41FA5}">
                      <a16:colId xmlns:a16="http://schemas.microsoft.com/office/drawing/2014/main" val="2084332243"/>
                    </a:ext>
                  </a:extLst>
                </a:gridCol>
              </a:tblGrid>
              <a:tr h="11512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專案代碼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分公司</a:t>
                      </a: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公司名稱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ID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推薦碼</a:t>
                      </a: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專案起訖日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開戶數總計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URL</a:t>
                      </a: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連結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806745"/>
                  </a:ext>
                </a:extLst>
              </a:tr>
              <a:tr h="191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BC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經紀部</a:t>
                      </a:r>
                      <a:r>
                        <a:rPr lang="en-US" altLang="zh-TW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(9887)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台積電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12345678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u="sng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BC233026</a:t>
                      </a:r>
                      <a:endParaRPr lang="zh-TW" altLang="en-US" sz="900" u="sng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2025/1/1-2025/12/1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https://global.yuanta.com.tw/NexusWebTrade/Login/WebOpenSMSGustGo?t=&amp;pno=&amp;IntroSrc=XXX</a:t>
                      </a: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指定參數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extLst>
                  <a:ext uri="{0D108BD9-81ED-4DB2-BD59-A6C34878D82A}">
                    <a16:rowId xmlns:a16="http://schemas.microsoft.com/office/drawing/2014/main" val="2548165778"/>
                  </a:ext>
                </a:extLst>
              </a:tr>
              <a:tr h="191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BE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總公司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優步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23456789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u="sng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BEUBERET</a:t>
                      </a:r>
                      <a:endParaRPr lang="zh-TW" altLang="en-US" sz="900" u="sng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2025/1/1-2025/6/30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600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https://global.yuanta.com.tw/NexusWebTrade/Login/WebOpenSMSGustGo?t=&amp;pno=&amp;IntroSrc=XXX</a:t>
                      </a: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指定參數</a:t>
                      </a:r>
                    </a:p>
                  </a:txBody>
                  <a:tcPr marL="69894" marR="69894" marT="34947" marB="34947" anchor="ctr"/>
                </a:tc>
                <a:extLst>
                  <a:ext uri="{0D108BD9-81ED-4DB2-BD59-A6C34878D82A}">
                    <a16:rowId xmlns:a16="http://schemas.microsoft.com/office/drawing/2014/main" val="619531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012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C1269A-18B9-4406-BBF7-C81862D6268E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  <p:grpSp>
        <p:nvGrpSpPr>
          <p:cNvPr id="89" name="群組 88"/>
          <p:cNvGrpSpPr/>
          <p:nvPr/>
        </p:nvGrpSpPr>
        <p:grpSpPr>
          <a:xfrm>
            <a:off x="-520877" y="1666530"/>
            <a:ext cx="216024" cy="2442446"/>
            <a:chOff x="-390293" y="1557204"/>
            <a:chExt cx="216024" cy="2442446"/>
          </a:xfrm>
        </p:grpSpPr>
        <p:sp>
          <p:nvSpPr>
            <p:cNvPr id="91" name="矩形 90"/>
            <p:cNvSpPr/>
            <p:nvPr/>
          </p:nvSpPr>
          <p:spPr>
            <a:xfrm>
              <a:off x="-390293" y="1557204"/>
              <a:ext cx="216024" cy="246584"/>
            </a:xfrm>
            <a:prstGeom prst="rect">
              <a:avLst/>
            </a:prstGeom>
            <a:solidFill>
              <a:srgbClr val="9ED0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-390293" y="1800864"/>
              <a:ext cx="216024" cy="246584"/>
            </a:xfrm>
            <a:prstGeom prst="rect">
              <a:avLst/>
            </a:prstGeom>
            <a:solidFill>
              <a:srgbClr val="42A3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-390293" y="2044524"/>
              <a:ext cx="216024" cy="24658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-390293" y="2534768"/>
              <a:ext cx="216024" cy="246584"/>
            </a:xfrm>
            <a:prstGeom prst="rect">
              <a:avLst/>
            </a:prstGeom>
            <a:solidFill>
              <a:srgbClr val="0D32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5" name="矩形 94"/>
            <p:cNvSpPr/>
            <p:nvPr/>
          </p:nvSpPr>
          <p:spPr>
            <a:xfrm>
              <a:off x="-390293" y="2291108"/>
              <a:ext cx="216024" cy="246584"/>
            </a:xfrm>
            <a:prstGeom prst="rect">
              <a:avLst/>
            </a:prstGeom>
            <a:solidFill>
              <a:srgbClr val="004D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9" name="矩形 98"/>
            <p:cNvSpPr/>
            <p:nvPr/>
          </p:nvSpPr>
          <p:spPr>
            <a:xfrm>
              <a:off x="-390293" y="2778428"/>
              <a:ext cx="216024" cy="246584"/>
            </a:xfrm>
            <a:prstGeom prst="rect">
              <a:avLst/>
            </a:prstGeom>
            <a:solidFill>
              <a:srgbClr val="FFBC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0" name="矩形 99"/>
            <p:cNvSpPr/>
            <p:nvPr/>
          </p:nvSpPr>
          <p:spPr>
            <a:xfrm>
              <a:off x="-390293" y="3022088"/>
              <a:ext cx="216024" cy="246584"/>
            </a:xfrm>
            <a:prstGeom prst="rect">
              <a:avLst/>
            </a:prstGeom>
            <a:solidFill>
              <a:srgbClr val="FFA6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1" name="矩形 100"/>
            <p:cNvSpPr/>
            <p:nvPr/>
          </p:nvSpPr>
          <p:spPr>
            <a:xfrm>
              <a:off x="-390293" y="3265748"/>
              <a:ext cx="216024" cy="246584"/>
            </a:xfrm>
            <a:prstGeom prst="rect">
              <a:avLst/>
            </a:prstGeom>
            <a:solidFill>
              <a:srgbClr val="82C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2" name="矩形 101"/>
            <p:cNvSpPr/>
            <p:nvPr/>
          </p:nvSpPr>
          <p:spPr>
            <a:xfrm>
              <a:off x="-390293" y="3509408"/>
              <a:ext cx="216024" cy="246584"/>
            </a:xfrm>
            <a:prstGeom prst="rect">
              <a:avLst/>
            </a:prstGeom>
            <a:solidFill>
              <a:srgbClr val="489F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-390293" y="3753066"/>
              <a:ext cx="216024" cy="246584"/>
            </a:xfrm>
            <a:prstGeom prst="rect">
              <a:avLst/>
            </a:prstGeom>
            <a:solidFill>
              <a:srgbClr val="1669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</p:grpSp>
      <p:sp>
        <p:nvSpPr>
          <p:cNvPr id="80" name="文字方塊 79"/>
          <p:cNvSpPr txBox="1"/>
          <p:nvPr/>
        </p:nvSpPr>
        <p:spPr>
          <a:xfrm>
            <a:off x="165541" y="104856"/>
            <a:ext cx="7796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推薦碼後台</a:t>
            </a:r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管理</a:t>
            </a:r>
            <a:r>
              <a:rPr lang="en-US" altLang="zh-TW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</a:t>
            </a:r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申請流程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(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金融特約商、異業合作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)</a:t>
            </a:r>
            <a:endParaRPr lang="zh-TW" altLang="en-US" sz="3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2" name="圓角矩形 31"/>
          <p:cNvSpPr/>
          <p:nvPr/>
        </p:nvSpPr>
        <p:spPr>
          <a:xfrm>
            <a:off x="187523" y="1096296"/>
            <a:ext cx="705677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申請專案</a:t>
            </a:r>
          </a:p>
        </p:txBody>
      </p:sp>
      <p:sp>
        <p:nvSpPr>
          <p:cNvPr id="33" name="圓角矩形 32"/>
          <p:cNvSpPr/>
          <p:nvPr/>
        </p:nvSpPr>
        <p:spPr>
          <a:xfrm>
            <a:off x="4871923" y="1096296"/>
            <a:ext cx="2629336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輸入洽談分公司、專案起訖、特約商公司、</a:t>
            </a:r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、推薦碼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6736" y="107808"/>
            <a:ext cx="184825" cy="5232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圓角矩形 35"/>
          <p:cNvSpPr/>
          <p:nvPr/>
        </p:nvSpPr>
        <p:spPr>
          <a:xfrm>
            <a:off x="7869352" y="1096296"/>
            <a:ext cx="659084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點選送出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419598" y="530323"/>
            <a:ext cx="410883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1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*檢核分公司名稱、專案起訖日、推薦碼格式</a:t>
            </a:r>
            <a:r>
              <a:rPr lang="en-US" altLang="zh-TW" sz="11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(8</a:t>
            </a:r>
            <a:r>
              <a:rPr lang="zh-TW" altLang="en-US" sz="11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碼</a:t>
            </a:r>
            <a:r>
              <a:rPr lang="en-US" altLang="zh-TW" sz="11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1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是否正確</a:t>
            </a:r>
            <a:endParaRPr lang="en-US" altLang="zh-TW" sz="1100" b="0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1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*異業合作分公司欄位輸入「總公司」</a:t>
            </a:r>
            <a:endParaRPr lang="en-US" altLang="zh-TW" sz="1100" b="0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1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11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如不符合格式規定，系統跳錯訊「格式有誤」</a:t>
            </a:r>
            <a:endParaRPr lang="zh-TW" altLang="en-US" sz="1100" b="0" dirty="0">
              <a:solidFill>
                <a:srgbClr val="C00000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0468425" y="1213306"/>
            <a:ext cx="109356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1100" b="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與系統已</a:t>
            </a:r>
            <a:r>
              <a:rPr lang="zh-TW" altLang="en-US" sz="11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建立</a:t>
            </a:r>
            <a:endParaRPr lang="en-US" altLang="zh-TW" sz="1100" b="0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1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資料進行</a:t>
            </a:r>
            <a:r>
              <a:rPr lang="zh-TW" altLang="en-US" sz="1100" b="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比對</a:t>
            </a:r>
            <a:endParaRPr lang="zh-TW" altLang="en-US" sz="1100" b="0" dirty="0">
              <a:solidFill>
                <a:srgbClr val="C00000"/>
              </a:solidFill>
            </a:endParaRPr>
          </a:p>
        </p:txBody>
      </p:sp>
      <p:sp>
        <p:nvSpPr>
          <p:cNvPr id="65" name="橢圓 64">
            <a:extLst>
              <a:ext uri="{FF2B5EF4-FFF2-40B4-BE49-F238E27FC236}">
                <a16:creationId xmlns:a16="http://schemas.microsoft.com/office/drawing/2014/main" id="{6C974915-4C3E-3F4F-9A03-9DF82BE597F0}"/>
              </a:ext>
            </a:extLst>
          </p:cNvPr>
          <p:cNvSpPr>
            <a:spLocks noChangeAspect="1"/>
          </p:cNvSpPr>
          <p:nvPr/>
        </p:nvSpPr>
        <p:spPr>
          <a:xfrm>
            <a:off x="9318028" y="3996616"/>
            <a:ext cx="2072017" cy="7081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產出帶有推薦碼的</a:t>
            </a:r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URL</a:t>
            </a:r>
            <a:r>
              <a:rPr lang="zh-CN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網址</a:t>
            </a:r>
            <a:endParaRPr lang="en-US" altLang="zh-CN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8" name="直線單箭頭接點 27"/>
          <p:cNvCxnSpPr/>
          <p:nvPr/>
        </p:nvCxnSpPr>
        <p:spPr>
          <a:xfrm>
            <a:off x="2213340" y="7997897"/>
            <a:ext cx="640324" cy="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圓角矩形 62"/>
          <p:cNvSpPr/>
          <p:nvPr/>
        </p:nvSpPr>
        <p:spPr>
          <a:xfrm>
            <a:off x="3920663" y="3996616"/>
            <a:ext cx="3070357" cy="7055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跳出再確認通知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「專案期間同一企業已有推薦碼，請確認是否為同集團」</a:t>
            </a:r>
          </a:p>
        </p:txBody>
      </p:sp>
      <p:sp>
        <p:nvSpPr>
          <p:cNvPr id="64" name="圓角矩形 63"/>
          <p:cNvSpPr/>
          <p:nvPr/>
        </p:nvSpPr>
        <p:spPr>
          <a:xfrm>
            <a:off x="7404747" y="2226884"/>
            <a:ext cx="1588293" cy="70006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點選取消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回到原申請畫面</a:t>
            </a:r>
          </a:p>
        </p:txBody>
      </p:sp>
      <p:sp>
        <p:nvSpPr>
          <p:cNvPr id="66" name="圓角矩形 65"/>
          <p:cNvSpPr/>
          <p:nvPr/>
        </p:nvSpPr>
        <p:spPr>
          <a:xfrm>
            <a:off x="3920663" y="2213625"/>
            <a:ext cx="3112533" cy="71332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跳錯訊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「分公司此期間已申請過企業專案」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菱形 66"/>
          <p:cNvSpPr>
            <a:spLocks noChangeAspect="1"/>
          </p:cNvSpPr>
          <p:nvPr/>
        </p:nvSpPr>
        <p:spPr>
          <a:xfrm>
            <a:off x="320096" y="3996616"/>
            <a:ext cx="3229016" cy="708114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分公司不同</a:t>
            </a:r>
            <a:r>
              <a:rPr lang="zh-TW" altLang="en-US" sz="11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；</a:t>
            </a:r>
            <a:r>
              <a:rPr lang="en-US" altLang="zh-TW" sz="11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相同且專案起迄有重疊</a:t>
            </a:r>
            <a:endParaRPr lang="en-US" altLang="zh-TW" sz="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圓角矩形 67"/>
          <p:cNvSpPr/>
          <p:nvPr/>
        </p:nvSpPr>
        <p:spPr>
          <a:xfrm>
            <a:off x="8641421" y="227847"/>
            <a:ext cx="2112125" cy="46518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跳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錯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訊「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推薦碼重複」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圓角矩形 68"/>
          <p:cNvSpPr/>
          <p:nvPr/>
        </p:nvSpPr>
        <p:spPr>
          <a:xfrm>
            <a:off x="3864050" y="5838669"/>
            <a:ext cx="3070357" cy="7055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跳出再確認通知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「此期間已有其他分公司申請同一企業之不同專案」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菱形 69"/>
          <p:cNvSpPr>
            <a:spLocks noChangeAspect="1"/>
          </p:cNvSpPr>
          <p:nvPr/>
        </p:nvSpPr>
        <p:spPr>
          <a:xfrm>
            <a:off x="320096" y="2218838"/>
            <a:ext cx="3229016" cy="708114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分公司、</a:t>
            </a:r>
            <a:r>
              <a:rPr lang="en-US" altLang="zh-TW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sz="11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相同</a:t>
            </a:r>
            <a:endParaRPr lang="en-US" altLang="zh-TW" sz="11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1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且專案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起迄</a:t>
            </a:r>
            <a:r>
              <a:rPr lang="zh-TW" altLang="en-US" sz="11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重疊</a:t>
            </a:r>
            <a:endParaRPr lang="en-US" altLang="zh-TW" sz="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菱形 70"/>
          <p:cNvSpPr>
            <a:spLocks noChangeAspect="1"/>
          </p:cNvSpPr>
          <p:nvPr/>
        </p:nvSpPr>
        <p:spPr>
          <a:xfrm>
            <a:off x="320096" y="5838668"/>
            <a:ext cx="3229016" cy="708114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分公司不同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；</a:t>
            </a:r>
            <a:r>
              <a:rPr lang="en-US" altLang="zh-TW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相同且專案起迄有重疊</a:t>
            </a:r>
            <a:endParaRPr lang="en-US" altLang="zh-TW" sz="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菱形 71"/>
          <p:cNvSpPr>
            <a:spLocks noChangeAspect="1"/>
          </p:cNvSpPr>
          <p:nvPr/>
        </p:nvSpPr>
        <p:spPr>
          <a:xfrm>
            <a:off x="8896529" y="1096296"/>
            <a:ext cx="1601912" cy="708114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比對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圓角矩形 72"/>
          <p:cNvSpPr/>
          <p:nvPr/>
        </p:nvSpPr>
        <p:spPr>
          <a:xfrm>
            <a:off x="4661694" y="3025104"/>
            <a:ext cx="1588293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點選取消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回到原申請畫面</a:t>
            </a:r>
          </a:p>
        </p:txBody>
      </p:sp>
      <p:sp>
        <p:nvSpPr>
          <p:cNvPr id="74" name="圓角矩形 73"/>
          <p:cNvSpPr/>
          <p:nvPr/>
        </p:nvSpPr>
        <p:spPr>
          <a:xfrm>
            <a:off x="4603121" y="4955397"/>
            <a:ext cx="1588293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點選取消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回到原申請畫面</a:t>
            </a:r>
          </a:p>
        </p:txBody>
      </p:sp>
      <p:sp>
        <p:nvSpPr>
          <p:cNvPr id="75" name="圓角矩形 74"/>
          <p:cNvSpPr/>
          <p:nvPr/>
        </p:nvSpPr>
        <p:spPr>
          <a:xfrm>
            <a:off x="7404747" y="3996616"/>
            <a:ext cx="1588293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確認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圓角矩形 75"/>
          <p:cNvSpPr/>
          <p:nvPr/>
        </p:nvSpPr>
        <p:spPr>
          <a:xfrm>
            <a:off x="7404747" y="5838668"/>
            <a:ext cx="1588293" cy="70550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確認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4" name="直線單箭頭接點 83"/>
          <p:cNvCxnSpPr>
            <a:stCxn id="63" idx="0"/>
            <a:endCxn id="73" idx="2"/>
          </p:cNvCxnSpPr>
          <p:nvPr/>
        </p:nvCxnSpPr>
        <p:spPr>
          <a:xfrm flipH="1" flipV="1">
            <a:off x="5455841" y="3733218"/>
            <a:ext cx="1" cy="263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>
            <a:stCxn id="69" idx="3"/>
            <a:endCxn id="76" idx="1"/>
          </p:cNvCxnSpPr>
          <p:nvPr/>
        </p:nvCxnSpPr>
        <p:spPr>
          <a:xfrm>
            <a:off x="6934407" y="6191423"/>
            <a:ext cx="4703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>
            <a:stCxn id="69" idx="0"/>
            <a:endCxn id="74" idx="2"/>
          </p:cNvCxnSpPr>
          <p:nvPr/>
        </p:nvCxnSpPr>
        <p:spPr>
          <a:xfrm flipH="1" flipV="1">
            <a:off x="5397268" y="5663511"/>
            <a:ext cx="1961" cy="175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字方塊 96"/>
          <p:cNvSpPr txBox="1"/>
          <p:nvPr/>
        </p:nvSpPr>
        <p:spPr>
          <a:xfrm>
            <a:off x="5134402" y="3741121"/>
            <a:ext cx="327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</a:t>
            </a:r>
            <a:endParaRPr kumimoji="1" lang="zh-TW" altLang="en-US" sz="12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5117481" y="5624491"/>
            <a:ext cx="327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</a:t>
            </a:r>
            <a:endParaRPr kumimoji="1" lang="zh-TW" altLang="en-US" sz="12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7" name="圓角矩形 106"/>
          <p:cNvSpPr/>
          <p:nvPr/>
        </p:nvSpPr>
        <p:spPr>
          <a:xfrm>
            <a:off x="1261293" y="1096296"/>
            <a:ext cx="1239570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選取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專案類型</a:t>
            </a:r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(B)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8" name="圓角矩形 107"/>
          <p:cNvSpPr/>
          <p:nvPr/>
        </p:nvSpPr>
        <p:spPr>
          <a:xfrm>
            <a:off x="2868956" y="1096296"/>
            <a:ext cx="1634874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選取專案代碼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金融特約商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-BC</a:t>
            </a:r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" name="直線單箭頭接點 3"/>
          <p:cNvCxnSpPr>
            <a:stCxn id="32" idx="3"/>
            <a:endCxn id="107" idx="1"/>
          </p:cNvCxnSpPr>
          <p:nvPr/>
        </p:nvCxnSpPr>
        <p:spPr>
          <a:xfrm>
            <a:off x="893200" y="1450353"/>
            <a:ext cx="368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>
            <a:stCxn id="107" idx="3"/>
            <a:endCxn id="108" idx="1"/>
          </p:cNvCxnSpPr>
          <p:nvPr/>
        </p:nvCxnSpPr>
        <p:spPr>
          <a:xfrm>
            <a:off x="2500863" y="1450353"/>
            <a:ext cx="368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108" idx="3"/>
            <a:endCxn id="33" idx="1"/>
          </p:cNvCxnSpPr>
          <p:nvPr/>
        </p:nvCxnSpPr>
        <p:spPr>
          <a:xfrm>
            <a:off x="4503830" y="1450353"/>
            <a:ext cx="368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33" idx="3"/>
            <a:endCxn id="36" idx="1"/>
          </p:cNvCxnSpPr>
          <p:nvPr/>
        </p:nvCxnSpPr>
        <p:spPr>
          <a:xfrm>
            <a:off x="7501259" y="1450353"/>
            <a:ext cx="368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36" idx="3"/>
            <a:endCxn id="72" idx="1"/>
          </p:cNvCxnSpPr>
          <p:nvPr/>
        </p:nvCxnSpPr>
        <p:spPr>
          <a:xfrm>
            <a:off x="8528436" y="1450353"/>
            <a:ext cx="368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stCxn id="72" idx="0"/>
            <a:endCxn id="68" idx="2"/>
          </p:cNvCxnSpPr>
          <p:nvPr/>
        </p:nvCxnSpPr>
        <p:spPr>
          <a:xfrm flipH="1" flipV="1">
            <a:off x="9697484" y="693035"/>
            <a:ext cx="1" cy="40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9220431" y="806712"/>
            <a:ext cx="95410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推薦碼相同</a:t>
            </a:r>
            <a:endParaRPr lang="zh-TW" altLang="en-US" sz="1200" dirty="0"/>
          </a:p>
        </p:txBody>
      </p:sp>
      <p:cxnSp>
        <p:nvCxnSpPr>
          <p:cNvPr id="35" name="肘形接點 34"/>
          <p:cNvCxnSpPr>
            <a:stCxn id="72" idx="3"/>
            <a:endCxn id="70" idx="1"/>
          </p:cNvCxnSpPr>
          <p:nvPr/>
        </p:nvCxnSpPr>
        <p:spPr>
          <a:xfrm flipH="1">
            <a:off x="320096" y="1450353"/>
            <a:ext cx="10178345" cy="1122542"/>
          </a:xfrm>
          <a:prstGeom prst="bentConnector5">
            <a:avLst>
              <a:gd name="adj1" fmla="val -2246"/>
              <a:gd name="adj2" fmla="val 50000"/>
              <a:gd name="adj3" fmla="val 1022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接點 37"/>
          <p:cNvCxnSpPr>
            <a:stCxn id="72" idx="3"/>
            <a:endCxn id="67" idx="1"/>
          </p:cNvCxnSpPr>
          <p:nvPr/>
        </p:nvCxnSpPr>
        <p:spPr>
          <a:xfrm flipH="1">
            <a:off x="320096" y="1450353"/>
            <a:ext cx="10178345" cy="2900320"/>
          </a:xfrm>
          <a:prstGeom prst="bentConnector5">
            <a:avLst>
              <a:gd name="adj1" fmla="val -2246"/>
              <a:gd name="adj2" fmla="val 19364"/>
              <a:gd name="adj3" fmla="val 1022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接點 42"/>
          <p:cNvCxnSpPr>
            <a:stCxn id="72" idx="3"/>
            <a:endCxn id="71" idx="1"/>
          </p:cNvCxnSpPr>
          <p:nvPr/>
        </p:nvCxnSpPr>
        <p:spPr>
          <a:xfrm flipH="1">
            <a:off x="320096" y="1450353"/>
            <a:ext cx="10178345" cy="4742372"/>
          </a:xfrm>
          <a:prstGeom prst="bentConnector5">
            <a:avLst>
              <a:gd name="adj1" fmla="val -2246"/>
              <a:gd name="adj2" fmla="val 11801"/>
              <a:gd name="adj3" fmla="val 1022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70" idx="3"/>
            <a:endCxn id="66" idx="1"/>
          </p:cNvCxnSpPr>
          <p:nvPr/>
        </p:nvCxnSpPr>
        <p:spPr>
          <a:xfrm flipV="1">
            <a:off x="3549112" y="2570289"/>
            <a:ext cx="371551" cy="2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67" idx="3"/>
            <a:endCxn id="63" idx="1"/>
          </p:cNvCxnSpPr>
          <p:nvPr/>
        </p:nvCxnSpPr>
        <p:spPr>
          <a:xfrm flipV="1">
            <a:off x="3549112" y="4349370"/>
            <a:ext cx="371551" cy="1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71" idx="3"/>
            <a:endCxn id="69" idx="1"/>
          </p:cNvCxnSpPr>
          <p:nvPr/>
        </p:nvCxnSpPr>
        <p:spPr>
          <a:xfrm flipV="1">
            <a:off x="3549112" y="6191423"/>
            <a:ext cx="314938" cy="1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66" idx="3"/>
            <a:endCxn id="64" idx="1"/>
          </p:cNvCxnSpPr>
          <p:nvPr/>
        </p:nvCxnSpPr>
        <p:spPr>
          <a:xfrm>
            <a:off x="7033196" y="2570289"/>
            <a:ext cx="371551" cy="6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stCxn id="63" idx="3"/>
            <a:endCxn id="75" idx="1"/>
          </p:cNvCxnSpPr>
          <p:nvPr/>
        </p:nvCxnSpPr>
        <p:spPr>
          <a:xfrm>
            <a:off x="6991020" y="4349370"/>
            <a:ext cx="413727" cy="1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>
            <a:stCxn id="75" idx="3"/>
            <a:endCxn id="65" idx="2"/>
          </p:cNvCxnSpPr>
          <p:nvPr/>
        </p:nvCxnSpPr>
        <p:spPr>
          <a:xfrm>
            <a:off x="8993040" y="4350673"/>
            <a:ext cx="3249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肘形接點 121"/>
          <p:cNvCxnSpPr>
            <a:stCxn id="76" idx="3"/>
            <a:endCxn id="65" idx="4"/>
          </p:cNvCxnSpPr>
          <p:nvPr/>
        </p:nvCxnSpPr>
        <p:spPr>
          <a:xfrm flipV="1">
            <a:off x="8993040" y="4704730"/>
            <a:ext cx="1360997" cy="14866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0" y="735318"/>
            <a:ext cx="210292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權限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通路事業部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dirty="0"/>
          </a:p>
        </p:txBody>
      </p:sp>
      <p:sp>
        <p:nvSpPr>
          <p:cNvPr id="78" name="圓角矩形 77"/>
          <p:cNvSpPr/>
          <p:nvPr/>
        </p:nvSpPr>
        <p:spPr>
          <a:xfrm>
            <a:off x="9183847" y="2926952"/>
            <a:ext cx="2340380" cy="70006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如為金融特約商類別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折讓優惠資訊寫入推薦碼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" name="直線單箭頭接點 6"/>
          <p:cNvCxnSpPr>
            <a:stCxn id="78" idx="2"/>
            <a:endCxn id="65" idx="0"/>
          </p:cNvCxnSpPr>
          <p:nvPr/>
        </p:nvCxnSpPr>
        <p:spPr>
          <a:xfrm>
            <a:off x="10354037" y="3627020"/>
            <a:ext cx="0" cy="369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307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C1269A-18B9-4406-BBF7-C81862D6268E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  <p:grpSp>
        <p:nvGrpSpPr>
          <p:cNvPr id="89" name="群組 88"/>
          <p:cNvGrpSpPr/>
          <p:nvPr/>
        </p:nvGrpSpPr>
        <p:grpSpPr>
          <a:xfrm>
            <a:off x="-520877" y="1666530"/>
            <a:ext cx="216024" cy="2442446"/>
            <a:chOff x="-390293" y="1557204"/>
            <a:chExt cx="216024" cy="2442446"/>
          </a:xfrm>
        </p:grpSpPr>
        <p:sp>
          <p:nvSpPr>
            <p:cNvPr id="91" name="矩形 90"/>
            <p:cNvSpPr/>
            <p:nvPr/>
          </p:nvSpPr>
          <p:spPr>
            <a:xfrm>
              <a:off x="-390293" y="1557204"/>
              <a:ext cx="216024" cy="246584"/>
            </a:xfrm>
            <a:prstGeom prst="rect">
              <a:avLst/>
            </a:prstGeom>
            <a:solidFill>
              <a:srgbClr val="9ED0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-390293" y="1800864"/>
              <a:ext cx="216024" cy="246584"/>
            </a:xfrm>
            <a:prstGeom prst="rect">
              <a:avLst/>
            </a:prstGeom>
            <a:solidFill>
              <a:srgbClr val="42A3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-390293" y="2044524"/>
              <a:ext cx="216024" cy="24658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-390293" y="2534768"/>
              <a:ext cx="216024" cy="246584"/>
            </a:xfrm>
            <a:prstGeom prst="rect">
              <a:avLst/>
            </a:prstGeom>
            <a:solidFill>
              <a:srgbClr val="0D32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5" name="矩形 94"/>
            <p:cNvSpPr/>
            <p:nvPr/>
          </p:nvSpPr>
          <p:spPr>
            <a:xfrm>
              <a:off x="-390293" y="2291108"/>
              <a:ext cx="216024" cy="246584"/>
            </a:xfrm>
            <a:prstGeom prst="rect">
              <a:avLst/>
            </a:prstGeom>
            <a:solidFill>
              <a:srgbClr val="004D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9" name="矩形 98"/>
            <p:cNvSpPr/>
            <p:nvPr/>
          </p:nvSpPr>
          <p:spPr>
            <a:xfrm>
              <a:off x="-390293" y="2778428"/>
              <a:ext cx="216024" cy="246584"/>
            </a:xfrm>
            <a:prstGeom prst="rect">
              <a:avLst/>
            </a:prstGeom>
            <a:solidFill>
              <a:srgbClr val="FFBC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0" name="矩形 99"/>
            <p:cNvSpPr/>
            <p:nvPr/>
          </p:nvSpPr>
          <p:spPr>
            <a:xfrm>
              <a:off x="-390293" y="3022088"/>
              <a:ext cx="216024" cy="246584"/>
            </a:xfrm>
            <a:prstGeom prst="rect">
              <a:avLst/>
            </a:prstGeom>
            <a:solidFill>
              <a:srgbClr val="FFA6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1" name="矩形 100"/>
            <p:cNvSpPr/>
            <p:nvPr/>
          </p:nvSpPr>
          <p:spPr>
            <a:xfrm>
              <a:off x="-390293" y="3265748"/>
              <a:ext cx="216024" cy="246584"/>
            </a:xfrm>
            <a:prstGeom prst="rect">
              <a:avLst/>
            </a:prstGeom>
            <a:solidFill>
              <a:srgbClr val="82C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2" name="矩形 101"/>
            <p:cNvSpPr/>
            <p:nvPr/>
          </p:nvSpPr>
          <p:spPr>
            <a:xfrm>
              <a:off x="-390293" y="3509408"/>
              <a:ext cx="216024" cy="246584"/>
            </a:xfrm>
            <a:prstGeom prst="rect">
              <a:avLst/>
            </a:prstGeom>
            <a:solidFill>
              <a:srgbClr val="489F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-390293" y="3753066"/>
              <a:ext cx="216024" cy="246584"/>
            </a:xfrm>
            <a:prstGeom prst="rect">
              <a:avLst/>
            </a:prstGeom>
            <a:solidFill>
              <a:srgbClr val="1669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</p:grpSp>
      <p:sp>
        <p:nvSpPr>
          <p:cNvPr id="80" name="文字方塊 79"/>
          <p:cNvSpPr txBox="1"/>
          <p:nvPr/>
        </p:nvSpPr>
        <p:spPr>
          <a:xfrm>
            <a:off x="165541" y="104856"/>
            <a:ext cx="65322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推薦碼後台</a:t>
            </a:r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管理</a:t>
            </a:r>
            <a:r>
              <a:rPr lang="en-US" altLang="zh-TW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</a:t>
            </a:r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編輯與刪除</a:t>
            </a:r>
            <a:r>
              <a:rPr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流程</a:t>
            </a:r>
          </a:p>
        </p:txBody>
      </p:sp>
      <p:sp>
        <p:nvSpPr>
          <p:cNvPr id="32" name="圓角矩形 31"/>
          <p:cNvSpPr/>
          <p:nvPr/>
        </p:nvSpPr>
        <p:spPr>
          <a:xfrm>
            <a:off x="53593" y="3469692"/>
            <a:ext cx="671220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圓角矩形 32"/>
          <p:cNvSpPr/>
          <p:nvPr/>
        </p:nvSpPr>
        <p:spPr>
          <a:xfrm>
            <a:off x="962852" y="3469692"/>
            <a:ext cx="1867681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下拉選單選取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「編輯或刪除專案」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圓角矩形 39"/>
          <p:cNvSpPr/>
          <p:nvPr/>
        </p:nvSpPr>
        <p:spPr>
          <a:xfrm>
            <a:off x="3051765" y="2527608"/>
            <a:ext cx="1149516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點選欲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刪除的專案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" name="直線單箭頭接點 5"/>
          <p:cNvCxnSpPr>
            <a:stCxn id="32" idx="3"/>
            <a:endCxn id="33" idx="1"/>
          </p:cNvCxnSpPr>
          <p:nvPr/>
        </p:nvCxnSpPr>
        <p:spPr>
          <a:xfrm>
            <a:off x="724813" y="3823749"/>
            <a:ext cx="238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46736" y="107808"/>
            <a:ext cx="184825" cy="5232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圓角矩形 30"/>
          <p:cNvSpPr/>
          <p:nvPr/>
        </p:nvSpPr>
        <p:spPr>
          <a:xfrm>
            <a:off x="4439320" y="2527608"/>
            <a:ext cx="1896289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顯示專案清單列表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左方勾選</a:t>
            </a:r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僅可單選</a:t>
            </a:r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點選右上方「刪除」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24813" y="3121409"/>
            <a:ext cx="224991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提供專案代碼、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篩選查詢</a:t>
            </a:r>
            <a:endParaRPr lang="zh-TW" altLang="en-US" sz="1200" b="0" dirty="0">
              <a:solidFill>
                <a:srgbClr val="C00000"/>
              </a:solidFill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6C974915-4C3E-3F4F-9A03-9DF82BE597F0}"/>
              </a:ext>
            </a:extLst>
          </p:cNvPr>
          <p:cNvSpPr>
            <a:spLocks noChangeAspect="1"/>
          </p:cNvSpPr>
          <p:nvPr/>
        </p:nvSpPr>
        <p:spPr>
          <a:xfrm>
            <a:off x="10040704" y="2527608"/>
            <a:ext cx="1343927" cy="7081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刪除專案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圓角矩形 44"/>
          <p:cNvSpPr/>
          <p:nvPr/>
        </p:nvSpPr>
        <p:spPr>
          <a:xfrm>
            <a:off x="6697820" y="1596076"/>
            <a:ext cx="2980672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確認通知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確定要移除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</a:t>
            </a:r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BC233026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嗎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9197632" y="3254706"/>
            <a:ext cx="23984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推薦碼無法使用、專屬連結失效</a:t>
            </a:r>
            <a:endParaRPr lang="en-US" altLang="zh-TW" sz="1200" b="0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*推薦碼已使用的紀錄會持續留存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送出開戶申請就算已使用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4" name="直線單箭頭接點 3"/>
          <p:cNvCxnSpPr>
            <a:stCxn id="40" idx="3"/>
            <a:endCxn id="31" idx="1"/>
          </p:cNvCxnSpPr>
          <p:nvPr/>
        </p:nvCxnSpPr>
        <p:spPr>
          <a:xfrm>
            <a:off x="4201281" y="2881665"/>
            <a:ext cx="238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菱形 45"/>
          <p:cNvSpPr>
            <a:spLocks noChangeAspect="1"/>
          </p:cNvSpPr>
          <p:nvPr/>
        </p:nvSpPr>
        <p:spPr>
          <a:xfrm>
            <a:off x="6573648" y="2527608"/>
            <a:ext cx="3229016" cy="708114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檢查推薦碼是否已使用</a:t>
            </a:r>
            <a:endParaRPr lang="en-US" altLang="zh-TW" sz="11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1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1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客戶已送出開戶即算</a:t>
            </a:r>
            <a:r>
              <a:rPr lang="en-US" altLang="zh-TW" sz="11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9705041" y="2881665"/>
            <a:ext cx="327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</a:t>
            </a:r>
            <a:endParaRPr kumimoji="1" lang="zh-TW" altLang="en-US" sz="12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8" name="圓角矩形 57"/>
          <p:cNvSpPr/>
          <p:nvPr/>
        </p:nvSpPr>
        <p:spPr>
          <a:xfrm>
            <a:off x="6697820" y="533905"/>
            <a:ext cx="2980672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再確認通知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推薦碼與專屬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連結將失效，請確認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3" name="直線單箭頭接點 62"/>
          <p:cNvCxnSpPr>
            <a:stCxn id="31" idx="3"/>
            <a:endCxn id="46" idx="1"/>
          </p:cNvCxnSpPr>
          <p:nvPr/>
        </p:nvCxnSpPr>
        <p:spPr>
          <a:xfrm>
            <a:off x="6335609" y="2881665"/>
            <a:ext cx="238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46" idx="3"/>
            <a:endCxn id="44" idx="2"/>
          </p:cNvCxnSpPr>
          <p:nvPr/>
        </p:nvCxnSpPr>
        <p:spPr>
          <a:xfrm>
            <a:off x="9802664" y="2881665"/>
            <a:ext cx="238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46" idx="0"/>
            <a:endCxn id="45" idx="2"/>
          </p:cNvCxnSpPr>
          <p:nvPr/>
        </p:nvCxnSpPr>
        <p:spPr>
          <a:xfrm flipV="1">
            <a:off x="8188156" y="2304190"/>
            <a:ext cx="0" cy="223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45" idx="0"/>
            <a:endCxn id="58" idx="2"/>
          </p:cNvCxnSpPr>
          <p:nvPr/>
        </p:nvCxnSpPr>
        <p:spPr>
          <a:xfrm flipV="1">
            <a:off x="8188156" y="1242019"/>
            <a:ext cx="0" cy="354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肘形接點 53"/>
          <p:cNvCxnSpPr>
            <a:stCxn id="58" idx="3"/>
            <a:endCxn id="44" idx="0"/>
          </p:cNvCxnSpPr>
          <p:nvPr/>
        </p:nvCxnSpPr>
        <p:spPr>
          <a:xfrm>
            <a:off x="9678492" y="887962"/>
            <a:ext cx="1034176" cy="16396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字方塊 86"/>
          <p:cNvSpPr txBox="1"/>
          <p:nvPr/>
        </p:nvSpPr>
        <p:spPr>
          <a:xfrm>
            <a:off x="8125661" y="2317825"/>
            <a:ext cx="327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</a:t>
            </a:r>
            <a:endParaRPr kumimoji="1" lang="zh-TW" altLang="en-US" sz="12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8125660" y="1319523"/>
            <a:ext cx="327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</a:t>
            </a:r>
            <a:endParaRPr kumimoji="1" lang="zh-TW" altLang="en-US" sz="12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10720658" y="1292287"/>
            <a:ext cx="327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</a:t>
            </a:r>
            <a:endParaRPr kumimoji="1" lang="zh-TW" altLang="en-US" sz="12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0" y="934242"/>
            <a:ext cx="210292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管理權限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通路事業部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dirty="0"/>
          </a:p>
        </p:txBody>
      </p:sp>
      <p:sp>
        <p:nvSpPr>
          <p:cNvPr id="55" name="圓角矩形 54"/>
          <p:cNvSpPr/>
          <p:nvPr/>
        </p:nvSpPr>
        <p:spPr>
          <a:xfrm>
            <a:off x="3051765" y="4460885"/>
            <a:ext cx="1149516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點選欲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編輯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的專案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圓角矩形 55"/>
          <p:cNvSpPr/>
          <p:nvPr/>
        </p:nvSpPr>
        <p:spPr>
          <a:xfrm>
            <a:off x="4439320" y="4460885"/>
            <a:ext cx="1896289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顯示專案清單列表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左方勾選</a:t>
            </a:r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僅可單選</a:t>
            </a:r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點選右上方「編輯」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1" name="肘形接點 20"/>
          <p:cNvCxnSpPr>
            <a:stCxn id="33" idx="3"/>
            <a:endCxn id="55" idx="1"/>
          </p:cNvCxnSpPr>
          <p:nvPr/>
        </p:nvCxnSpPr>
        <p:spPr>
          <a:xfrm>
            <a:off x="2830533" y="3823749"/>
            <a:ext cx="221232" cy="9911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圓角矩形 59"/>
          <p:cNvSpPr/>
          <p:nvPr/>
        </p:nvSpPr>
        <p:spPr>
          <a:xfrm>
            <a:off x="7061019" y="4460885"/>
            <a:ext cx="2254274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跳轉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回原申請介面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僅開放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編輯「專案迄日」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點選「送出」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2" name="肘形接點 61"/>
          <p:cNvCxnSpPr>
            <a:stCxn id="33" idx="3"/>
            <a:endCxn id="40" idx="1"/>
          </p:cNvCxnSpPr>
          <p:nvPr/>
        </p:nvCxnSpPr>
        <p:spPr>
          <a:xfrm flipV="1">
            <a:off x="2830533" y="2881665"/>
            <a:ext cx="221232" cy="9420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55" idx="3"/>
            <a:endCxn id="56" idx="1"/>
          </p:cNvCxnSpPr>
          <p:nvPr/>
        </p:nvCxnSpPr>
        <p:spPr>
          <a:xfrm>
            <a:off x="4201281" y="4814942"/>
            <a:ext cx="238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56" idx="3"/>
            <a:endCxn id="60" idx="1"/>
          </p:cNvCxnSpPr>
          <p:nvPr/>
        </p:nvCxnSpPr>
        <p:spPr>
          <a:xfrm>
            <a:off x="6335609" y="4814942"/>
            <a:ext cx="725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7190182" y="4156514"/>
            <a:ext cx="19959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其他資料皆不開放編輯</a:t>
            </a:r>
            <a:endParaRPr lang="zh-TW" altLang="en-US" sz="1200" b="0" dirty="0">
              <a:solidFill>
                <a:srgbClr val="C00000"/>
              </a:solidFill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C974915-4C3E-3F4F-9A03-9DF82BE597F0}"/>
              </a:ext>
            </a:extLst>
          </p:cNvPr>
          <p:cNvSpPr>
            <a:spLocks noChangeAspect="1"/>
          </p:cNvSpPr>
          <p:nvPr/>
        </p:nvSpPr>
        <p:spPr>
          <a:xfrm>
            <a:off x="10033032" y="4460885"/>
            <a:ext cx="1343927" cy="7081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編輯完成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1" name="直線單箭頭接點 60"/>
          <p:cNvCxnSpPr>
            <a:stCxn id="60" idx="3"/>
            <a:endCxn id="79" idx="2"/>
          </p:cNvCxnSpPr>
          <p:nvPr/>
        </p:nvCxnSpPr>
        <p:spPr>
          <a:xfrm>
            <a:off x="9315293" y="4814942"/>
            <a:ext cx="7177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22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C1269A-18B9-4406-BBF7-C81862D6268E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  <p:grpSp>
        <p:nvGrpSpPr>
          <p:cNvPr id="89" name="群組 88"/>
          <p:cNvGrpSpPr/>
          <p:nvPr/>
        </p:nvGrpSpPr>
        <p:grpSpPr>
          <a:xfrm>
            <a:off x="-520877" y="1666530"/>
            <a:ext cx="216024" cy="2442446"/>
            <a:chOff x="-390293" y="1557204"/>
            <a:chExt cx="216024" cy="2442446"/>
          </a:xfrm>
        </p:grpSpPr>
        <p:sp>
          <p:nvSpPr>
            <p:cNvPr id="91" name="矩形 90"/>
            <p:cNvSpPr/>
            <p:nvPr/>
          </p:nvSpPr>
          <p:spPr>
            <a:xfrm>
              <a:off x="-390293" y="1557204"/>
              <a:ext cx="216024" cy="246584"/>
            </a:xfrm>
            <a:prstGeom prst="rect">
              <a:avLst/>
            </a:prstGeom>
            <a:solidFill>
              <a:srgbClr val="9ED0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-390293" y="1800864"/>
              <a:ext cx="216024" cy="246584"/>
            </a:xfrm>
            <a:prstGeom prst="rect">
              <a:avLst/>
            </a:prstGeom>
            <a:solidFill>
              <a:srgbClr val="42A3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-390293" y="2044524"/>
              <a:ext cx="216024" cy="24658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-390293" y="2534768"/>
              <a:ext cx="216024" cy="246584"/>
            </a:xfrm>
            <a:prstGeom prst="rect">
              <a:avLst/>
            </a:prstGeom>
            <a:solidFill>
              <a:srgbClr val="0D32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5" name="矩形 94"/>
            <p:cNvSpPr/>
            <p:nvPr/>
          </p:nvSpPr>
          <p:spPr>
            <a:xfrm>
              <a:off x="-390293" y="2291108"/>
              <a:ext cx="216024" cy="246584"/>
            </a:xfrm>
            <a:prstGeom prst="rect">
              <a:avLst/>
            </a:prstGeom>
            <a:solidFill>
              <a:srgbClr val="004D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9" name="矩形 98"/>
            <p:cNvSpPr/>
            <p:nvPr/>
          </p:nvSpPr>
          <p:spPr>
            <a:xfrm>
              <a:off x="-390293" y="2778428"/>
              <a:ext cx="216024" cy="246584"/>
            </a:xfrm>
            <a:prstGeom prst="rect">
              <a:avLst/>
            </a:prstGeom>
            <a:solidFill>
              <a:srgbClr val="FFBC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0" name="矩形 99"/>
            <p:cNvSpPr/>
            <p:nvPr/>
          </p:nvSpPr>
          <p:spPr>
            <a:xfrm>
              <a:off x="-390293" y="3022088"/>
              <a:ext cx="216024" cy="246584"/>
            </a:xfrm>
            <a:prstGeom prst="rect">
              <a:avLst/>
            </a:prstGeom>
            <a:solidFill>
              <a:srgbClr val="FFA6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1" name="矩形 100"/>
            <p:cNvSpPr/>
            <p:nvPr/>
          </p:nvSpPr>
          <p:spPr>
            <a:xfrm>
              <a:off x="-390293" y="3265748"/>
              <a:ext cx="216024" cy="246584"/>
            </a:xfrm>
            <a:prstGeom prst="rect">
              <a:avLst/>
            </a:prstGeom>
            <a:solidFill>
              <a:srgbClr val="82C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2" name="矩形 101"/>
            <p:cNvSpPr/>
            <p:nvPr/>
          </p:nvSpPr>
          <p:spPr>
            <a:xfrm>
              <a:off x="-390293" y="3509408"/>
              <a:ext cx="216024" cy="246584"/>
            </a:xfrm>
            <a:prstGeom prst="rect">
              <a:avLst/>
            </a:prstGeom>
            <a:solidFill>
              <a:srgbClr val="489F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-390293" y="3753066"/>
              <a:ext cx="216024" cy="246584"/>
            </a:xfrm>
            <a:prstGeom prst="rect">
              <a:avLst/>
            </a:prstGeom>
            <a:solidFill>
              <a:srgbClr val="1669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</p:grpSp>
      <p:sp>
        <p:nvSpPr>
          <p:cNvPr id="80" name="文字方塊 79"/>
          <p:cNvSpPr txBox="1"/>
          <p:nvPr/>
        </p:nvSpPr>
        <p:spPr>
          <a:xfrm>
            <a:off x="165541" y="104856"/>
            <a:ext cx="71889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推薦碼後台管理系統</a:t>
            </a:r>
            <a:r>
              <a:rPr lang="en-US" altLang="zh-TW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前端</a:t>
            </a:r>
            <a:r>
              <a:rPr lang="en-US" altLang="zh-TW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Web</a:t>
            </a:r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開戶流程</a:t>
            </a:r>
            <a:endParaRPr lang="zh-TW" altLang="en-US" sz="3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圓角矩形 38"/>
          <p:cNvSpPr/>
          <p:nvPr/>
        </p:nvSpPr>
        <p:spPr>
          <a:xfrm>
            <a:off x="31483" y="3529546"/>
            <a:ext cx="1860457" cy="70811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AMS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/>
            <a:r>
              <a:rPr lang="en-US" altLang="zh-TW" sz="11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1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</a:t>
            </a:r>
            <a:r>
              <a:rPr lang="zh-TW" altLang="en-US" sz="11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：開戶審核後台</a:t>
            </a:r>
            <a:r>
              <a:rPr lang="en-US" altLang="zh-TW" sz="11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1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圓角矩形 46"/>
          <p:cNvSpPr/>
          <p:nvPr/>
        </p:nvSpPr>
        <p:spPr>
          <a:xfrm>
            <a:off x="472694" y="1696794"/>
            <a:ext cx="983677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</a:t>
            </a:r>
            <a:endParaRPr lang="en-US" altLang="zh-CN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開戶</a:t>
            </a:r>
            <a:r>
              <a:rPr lang="zh-CN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網址</a:t>
            </a:r>
            <a:endParaRPr lang="en-US" altLang="zh-CN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ACB8C93F-21BE-6B4B-9251-741AC2D99B31}"/>
              </a:ext>
            </a:extLst>
          </p:cNvPr>
          <p:cNvSpPr/>
          <p:nvPr/>
        </p:nvSpPr>
        <p:spPr>
          <a:xfrm>
            <a:off x="5974243" y="5211606"/>
            <a:ext cx="2487088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開戶審核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圓角矩形 55">
            <a:extLst>
              <a:ext uri="{FF2B5EF4-FFF2-40B4-BE49-F238E27FC236}">
                <a16:creationId xmlns:a16="http://schemas.microsoft.com/office/drawing/2014/main" id="{F63A945B-896C-3B4D-9384-A9A596C8D071}"/>
              </a:ext>
            </a:extLst>
          </p:cNvPr>
          <p:cNvSpPr/>
          <p:nvPr/>
        </p:nvSpPr>
        <p:spPr>
          <a:xfrm>
            <a:off x="6234889" y="1692320"/>
            <a:ext cx="2583879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資料填寫完成並上傳身分證明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點選送出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圓角矩形 34"/>
          <p:cNvSpPr/>
          <p:nvPr/>
        </p:nvSpPr>
        <p:spPr>
          <a:xfrm>
            <a:off x="6968" y="1074703"/>
            <a:ext cx="1639019" cy="41028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Web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開戶介面</a:t>
            </a:r>
          </a:p>
          <a:p>
            <a:pPr lvl="0" algn="ctr"/>
            <a:r>
              <a:rPr lang="en-US" altLang="zh-TW" sz="11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1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</a:t>
            </a:r>
            <a:r>
              <a:rPr lang="zh-TW" altLang="en-US" sz="11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1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客戶</a:t>
            </a:r>
            <a:r>
              <a:rPr lang="en-US" altLang="zh-TW" sz="11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1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圓角矩形 40"/>
          <p:cNvSpPr/>
          <p:nvPr/>
        </p:nvSpPr>
        <p:spPr>
          <a:xfrm>
            <a:off x="2398103" y="1694933"/>
            <a:ext cx="2895057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開戶介面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帶入洽談分公司</a:t>
            </a:r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預設可更改</a:t>
            </a:r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與推薦碼</a:t>
            </a:r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不可更改</a:t>
            </a:r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圓角矩形 63">
            <a:extLst>
              <a:ext uri="{FF2B5EF4-FFF2-40B4-BE49-F238E27FC236}">
                <a16:creationId xmlns:a16="http://schemas.microsoft.com/office/drawing/2014/main" id="{9F219628-285A-8E4A-B474-C82286F80886}"/>
              </a:ext>
            </a:extLst>
          </p:cNvPr>
          <p:cNvSpPr/>
          <p:nvPr/>
        </p:nvSpPr>
        <p:spPr>
          <a:xfrm>
            <a:off x="614888" y="5013769"/>
            <a:ext cx="4774022" cy="11178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審核介面帶出推薦碼資料，供審核人員比對專案文件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/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/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/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6736" y="107808"/>
            <a:ext cx="184825" cy="5232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 47"/>
          <p:cNvSpPr/>
          <p:nvPr/>
        </p:nvSpPr>
        <p:spPr>
          <a:xfrm>
            <a:off x="1960143" y="2420010"/>
            <a:ext cx="3770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開戶網頁新增「專案辨識文件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員工證等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」上傳欄位*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AMS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後台同步新增「專案辨識文件」資料儲存</a:t>
            </a:r>
            <a:endParaRPr lang="en-US" altLang="zh-TW" sz="1200" b="0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404699" y="1453408"/>
            <a:ext cx="22442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系統檢核資料與文件是否完整</a:t>
            </a:r>
            <a:endParaRPr lang="en-US" altLang="zh-TW" sz="1200" b="0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05106" y="4538933"/>
            <a:ext cx="22442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串接推薦碼後台管理系統資料</a:t>
            </a:r>
            <a:endParaRPr lang="en-US" altLang="zh-TW" sz="1200" b="0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490146" y="5916904"/>
            <a:ext cx="47260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開戶後台審核客戶資料是否完備，如有缺件須由業代通知補件</a:t>
            </a:r>
            <a:endParaRPr lang="en-US" altLang="zh-TW" sz="1200" b="0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*資格不符客戶</a:t>
            </a:r>
            <a:r>
              <a:rPr lang="zh-TW" altLang="en-US" sz="1200" b="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業代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需通知客戶，並由後台消除推薦碼轉為一般開戶</a:t>
            </a:r>
            <a:endParaRPr lang="en-US" altLang="zh-TW" sz="1200" b="0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6C974915-4C3E-3F4F-9A03-9DF82BE597F0}"/>
              </a:ext>
            </a:extLst>
          </p:cNvPr>
          <p:cNvSpPr>
            <a:spLocks noChangeAspect="1"/>
          </p:cNvSpPr>
          <p:nvPr/>
        </p:nvSpPr>
        <p:spPr>
          <a:xfrm>
            <a:off x="9066328" y="5208790"/>
            <a:ext cx="2299802" cy="7081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開戶完成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" name="直線單箭頭接點 4"/>
          <p:cNvCxnSpPr>
            <a:stCxn id="47" idx="3"/>
            <a:endCxn id="41" idx="1"/>
          </p:cNvCxnSpPr>
          <p:nvPr/>
        </p:nvCxnSpPr>
        <p:spPr>
          <a:xfrm flipV="1">
            <a:off x="1456371" y="2048990"/>
            <a:ext cx="941732" cy="1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>
            <a:stCxn id="41" idx="3"/>
            <a:endCxn id="56" idx="1"/>
          </p:cNvCxnSpPr>
          <p:nvPr/>
        </p:nvCxnSpPr>
        <p:spPr>
          <a:xfrm flipV="1">
            <a:off x="5293160" y="2046377"/>
            <a:ext cx="941729" cy="2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接點 14"/>
          <p:cNvCxnSpPr>
            <a:stCxn id="56" idx="2"/>
            <a:endCxn id="64" idx="0"/>
          </p:cNvCxnSpPr>
          <p:nvPr/>
        </p:nvCxnSpPr>
        <p:spPr>
          <a:xfrm rot="5400000">
            <a:off x="3957697" y="1444636"/>
            <a:ext cx="2613335" cy="45249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64" idx="3"/>
            <a:endCxn id="55" idx="1"/>
          </p:cNvCxnSpPr>
          <p:nvPr/>
        </p:nvCxnSpPr>
        <p:spPr>
          <a:xfrm flipV="1">
            <a:off x="5388910" y="5565663"/>
            <a:ext cx="585333" cy="7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55" idx="3"/>
            <a:endCxn id="54" idx="2"/>
          </p:cNvCxnSpPr>
          <p:nvPr/>
        </p:nvCxnSpPr>
        <p:spPr>
          <a:xfrm flipV="1">
            <a:off x="8461331" y="5562847"/>
            <a:ext cx="604997" cy="2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199528"/>
              </p:ext>
            </p:extLst>
          </p:nvPr>
        </p:nvGraphicFramePr>
        <p:xfrm>
          <a:off x="914758" y="5405335"/>
          <a:ext cx="4174282" cy="577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697">
                  <a:extLst>
                    <a:ext uri="{9D8B030D-6E8A-4147-A177-3AD203B41FA5}">
                      <a16:colId xmlns:a16="http://schemas.microsoft.com/office/drawing/2014/main" val="3816778424"/>
                    </a:ext>
                  </a:extLst>
                </a:gridCol>
                <a:gridCol w="1173543">
                  <a:extLst>
                    <a:ext uri="{9D8B030D-6E8A-4147-A177-3AD203B41FA5}">
                      <a16:colId xmlns:a16="http://schemas.microsoft.com/office/drawing/2014/main" val="990692545"/>
                    </a:ext>
                  </a:extLst>
                </a:gridCol>
                <a:gridCol w="1173543">
                  <a:extLst>
                    <a:ext uri="{9D8B030D-6E8A-4147-A177-3AD203B41FA5}">
                      <a16:colId xmlns:a16="http://schemas.microsoft.com/office/drawing/2014/main" val="1276541335"/>
                    </a:ext>
                  </a:extLst>
                </a:gridCol>
                <a:gridCol w="915499">
                  <a:extLst>
                    <a:ext uri="{9D8B030D-6E8A-4147-A177-3AD203B41FA5}">
                      <a16:colId xmlns:a16="http://schemas.microsoft.com/office/drawing/2014/main" val="949693298"/>
                    </a:ext>
                  </a:extLst>
                </a:gridCol>
              </a:tblGrid>
              <a:tr h="26335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7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專案期間</a:t>
                      </a:r>
                      <a:endParaRPr lang="zh-TW" altLang="en-US" sz="7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2350" marR="52350" marT="26175" marB="26175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7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推薦碼</a:t>
                      </a:r>
                    </a:p>
                  </a:txBody>
                  <a:tcPr marL="52350" marR="52350" marT="26175" marB="26175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7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特約商</a:t>
                      </a:r>
                      <a:endParaRPr lang="zh-TW" altLang="en-US" sz="7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2350" marR="52350" marT="26175" marB="26175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7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特約商</a:t>
                      </a:r>
                      <a:r>
                        <a:rPr lang="en-US" altLang="zh-TW" sz="7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ID</a:t>
                      </a:r>
                      <a:endParaRPr lang="zh-TW" altLang="en-US" sz="7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2350" marR="52350" marT="26175" marB="26175"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192084"/>
                  </a:ext>
                </a:extLst>
              </a:tr>
              <a:tr h="3144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7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2025/02/01-2025/03/10</a:t>
                      </a:r>
                      <a:endParaRPr lang="zh-TW" altLang="en-US" sz="7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2350" marR="52350" marT="26175" marB="261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700" b="0" u="none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BC233026</a:t>
                      </a:r>
                      <a:endParaRPr lang="en-US" altLang="zh-TW" sz="700" b="0" u="non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2350" marR="52350" marT="26175" marB="261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700" b="0" u="none" kern="12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台積電</a:t>
                      </a:r>
                      <a:endParaRPr lang="en-US" altLang="zh-TW" sz="700" b="0" u="none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2350" marR="52350" marT="26175" marB="261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7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27365925</a:t>
                      </a:r>
                      <a:endParaRPr lang="zh-TW" altLang="en-US" sz="7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2350" marR="52350" marT="26175" marB="26175" anchor="ctr"/>
                </a:tc>
                <a:extLst>
                  <a:ext uri="{0D108BD9-81ED-4DB2-BD59-A6C34878D82A}">
                    <a16:rowId xmlns:a16="http://schemas.microsoft.com/office/drawing/2014/main" val="1067065132"/>
                  </a:ext>
                </a:extLst>
              </a:tr>
            </a:tbl>
          </a:graphicData>
        </a:graphic>
      </p:graphicFrame>
      <p:cxnSp>
        <p:nvCxnSpPr>
          <p:cNvPr id="44" name="直線接點 43"/>
          <p:cNvCxnSpPr/>
          <p:nvPr/>
        </p:nvCxnSpPr>
        <p:spPr>
          <a:xfrm>
            <a:off x="65884" y="3185529"/>
            <a:ext cx="114395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176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文字方塊 158"/>
          <p:cNvSpPr txBox="1"/>
          <p:nvPr/>
        </p:nvSpPr>
        <p:spPr>
          <a:xfrm>
            <a:off x="535022" y="223499"/>
            <a:ext cx="104792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推薦碼後台</a:t>
            </a:r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 </a:t>
            </a:r>
            <a:r>
              <a:rPr lang="en-US" altLang="zh-TW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初步示意圖</a:t>
            </a:r>
            <a:r>
              <a:rPr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350197" y="235787"/>
            <a:ext cx="184825" cy="5232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1" name="矩形 160"/>
          <p:cNvSpPr/>
          <p:nvPr/>
        </p:nvSpPr>
        <p:spPr>
          <a:xfrm>
            <a:off x="85241" y="791783"/>
            <a:ext cx="5841395" cy="27160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Step1.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專案申請</a:t>
            </a:r>
          </a:p>
        </p:txBody>
      </p:sp>
      <p:sp>
        <p:nvSpPr>
          <p:cNvPr id="167" name="矩形 166"/>
          <p:cNvSpPr/>
          <p:nvPr/>
        </p:nvSpPr>
        <p:spPr>
          <a:xfrm>
            <a:off x="70307" y="2089906"/>
            <a:ext cx="5846306" cy="15955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3" name="矩形 222"/>
          <p:cNvSpPr/>
          <p:nvPr/>
        </p:nvSpPr>
        <p:spPr>
          <a:xfrm>
            <a:off x="70306" y="1276874"/>
            <a:ext cx="1059707" cy="285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申請專案</a:t>
            </a:r>
          </a:p>
        </p:txBody>
      </p:sp>
      <p:sp>
        <p:nvSpPr>
          <p:cNvPr id="224" name="矩形 223"/>
          <p:cNvSpPr/>
          <p:nvPr/>
        </p:nvSpPr>
        <p:spPr>
          <a:xfrm>
            <a:off x="1275672" y="1276874"/>
            <a:ext cx="1059707" cy="285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管理專案</a:t>
            </a:r>
          </a:p>
        </p:txBody>
      </p:sp>
      <p:sp>
        <p:nvSpPr>
          <p:cNvPr id="225" name="文字方塊 224"/>
          <p:cNvSpPr txBox="1"/>
          <p:nvPr/>
        </p:nvSpPr>
        <p:spPr>
          <a:xfrm>
            <a:off x="39668" y="1052213"/>
            <a:ext cx="2672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/>
            </a:pP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點擊「申請專案」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後，跳出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申請介面</a:t>
            </a:r>
            <a:endParaRPr kumimoji="1" lang="en-US" altLang="zh-TW" sz="1100" dirty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8" name="矩形 227"/>
          <p:cNvSpPr/>
          <p:nvPr/>
        </p:nvSpPr>
        <p:spPr>
          <a:xfrm>
            <a:off x="1064429" y="2991403"/>
            <a:ext cx="248395" cy="264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~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9" name="文字方塊 248"/>
          <p:cNvSpPr txBox="1"/>
          <p:nvPr/>
        </p:nvSpPr>
        <p:spPr>
          <a:xfrm>
            <a:off x="2664071" y="337763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TW" altLang="en-US" sz="1200" u="sng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送出</a:t>
            </a:r>
            <a:endParaRPr kumimoji="1" lang="zh-TW" altLang="en-US" sz="1200" u="sng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32704" y="2128302"/>
            <a:ext cx="939058" cy="2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代碼</a:t>
            </a:r>
            <a:endParaRPr lang="en-US" altLang="zh-TW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32704" y="1584336"/>
            <a:ext cx="935179" cy="2299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專案類型</a:t>
            </a:r>
            <a:endParaRPr lang="en-US" altLang="zh-TW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77" name="群組 176"/>
          <p:cNvGrpSpPr/>
          <p:nvPr/>
        </p:nvGrpSpPr>
        <p:grpSpPr>
          <a:xfrm>
            <a:off x="-520877" y="1666530"/>
            <a:ext cx="216024" cy="2442446"/>
            <a:chOff x="-390293" y="1557204"/>
            <a:chExt cx="216024" cy="2442446"/>
          </a:xfrm>
        </p:grpSpPr>
        <p:sp>
          <p:nvSpPr>
            <p:cNvPr id="178" name="矩形 177"/>
            <p:cNvSpPr/>
            <p:nvPr/>
          </p:nvSpPr>
          <p:spPr>
            <a:xfrm>
              <a:off x="-390293" y="1557204"/>
              <a:ext cx="216024" cy="246584"/>
            </a:xfrm>
            <a:prstGeom prst="rect">
              <a:avLst/>
            </a:prstGeom>
            <a:solidFill>
              <a:srgbClr val="9ED0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79" name="矩形 178"/>
            <p:cNvSpPr/>
            <p:nvPr/>
          </p:nvSpPr>
          <p:spPr>
            <a:xfrm>
              <a:off x="-390293" y="1800864"/>
              <a:ext cx="216024" cy="246584"/>
            </a:xfrm>
            <a:prstGeom prst="rect">
              <a:avLst/>
            </a:prstGeom>
            <a:solidFill>
              <a:srgbClr val="42A3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80" name="矩形 179"/>
            <p:cNvSpPr/>
            <p:nvPr/>
          </p:nvSpPr>
          <p:spPr>
            <a:xfrm>
              <a:off x="-390293" y="2044524"/>
              <a:ext cx="216024" cy="24658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81" name="矩形 180"/>
            <p:cNvSpPr/>
            <p:nvPr/>
          </p:nvSpPr>
          <p:spPr>
            <a:xfrm>
              <a:off x="-390293" y="2534768"/>
              <a:ext cx="216024" cy="246584"/>
            </a:xfrm>
            <a:prstGeom prst="rect">
              <a:avLst/>
            </a:prstGeom>
            <a:solidFill>
              <a:srgbClr val="0D32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82" name="矩形 181"/>
            <p:cNvSpPr/>
            <p:nvPr/>
          </p:nvSpPr>
          <p:spPr>
            <a:xfrm>
              <a:off x="-390293" y="2291108"/>
              <a:ext cx="216024" cy="246584"/>
            </a:xfrm>
            <a:prstGeom prst="rect">
              <a:avLst/>
            </a:prstGeom>
            <a:solidFill>
              <a:srgbClr val="004D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83" name="矩形 182"/>
            <p:cNvSpPr/>
            <p:nvPr/>
          </p:nvSpPr>
          <p:spPr>
            <a:xfrm>
              <a:off x="-390293" y="2778428"/>
              <a:ext cx="216024" cy="246584"/>
            </a:xfrm>
            <a:prstGeom prst="rect">
              <a:avLst/>
            </a:prstGeom>
            <a:solidFill>
              <a:srgbClr val="FFBC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84" name="矩形 183"/>
            <p:cNvSpPr/>
            <p:nvPr/>
          </p:nvSpPr>
          <p:spPr>
            <a:xfrm>
              <a:off x="-390293" y="3022088"/>
              <a:ext cx="216024" cy="246584"/>
            </a:xfrm>
            <a:prstGeom prst="rect">
              <a:avLst/>
            </a:prstGeom>
            <a:solidFill>
              <a:srgbClr val="FFA6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85" name="矩形 184"/>
            <p:cNvSpPr/>
            <p:nvPr/>
          </p:nvSpPr>
          <p:spPr>
            <a:xfrm>
              <a:off x="-390293" y="3265748"/>
              <a:ext cx="216024" cy="246584"/>
            </a:xfrm>
            <a:prstGeom prst="rect">
              <a:avLst/>
            </a:prstGeom>
            <a:solidFill>
              <a:srgbClr val="82C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86" name="矩形 185"/>
            <p:cNvSpPr/>
            <p:nvPr/>
          </p:nvSpPr>
          <p:spPr>
            <a:xfrm>
              <a:off x="-390293" y="3509408"/>
              <a:ext cx="216024" cy="246584"/>
            </a:xfrm>
            <a:prstGeom prst="rect">
              <a:avLst/>
            </a:prstGeom>
            <a:solidFill>
              <a:srgbClr val="489F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87" name="矩形 186"/>
            <p:cNvSpPr/>
            <p:nvPr/>
          </p:nvSpPr>
          <p:spPr>
            <a:xfrm>
              <a:off x="-390293" y="3753066"/>
              <a:ext cx="216024" cy="246584"/>
            </a:xfrm>
            <a:prstGeom prst="rect">
              <a:avLst/>
            </a:prstGeom>
            <a:solidFill>
              <a:srgbClr val="1669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</p:grpSp>
      <p:sp>
        <p:nvSpPr>
          <p:cNvPr id="94" name="矩形 93"/>
          <p:cNvSpPr/>
          <p:nvPr/>
        </p:nvSpPr>
        <p:spPr>
          <a:xfrm>
            <a:off x="132886" y="2393554"/>
            <a:ext cx="934997" cy="23040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MG</a:t>
            </a:r>
            <a:endParaRPr lang="zh-TW" altLang="en-US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1071762" y="1706316"/>
            <a:ext cx="3147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2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專案類型勾選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分別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跳出不同申請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介面</a:t>
            </a:r>
            <a:endParaRPr kumimoji="1" lang="en-US" altLang="zh-TW" sz="1100" dirty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316568" y="1788751"/>
            <a:ext cx="29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TW" sz="1200" b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</a:t>
            </a:r>
          </a:p>
        </p:txBody>
      </p:sp>
      <p:sp>
        <p:nvSpPr>
          <p:cNvPr id="110" name="矩形 109"/>
          <p:cNvSpPr/>
          <p:nvPr/>
        </p:nvSpPr>
        <p:spPr>
          <a:xfrm>
            <a:off x="244406" y="1863361"/>
            <a:ext cx="133513" cy="126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11596092" y="6492875"/>
            <a:ext cx="595908" cy="365125"/>
          </a:xfrm>
        </p:spPr>
        <p:txBody>
          <a:bodyPr/>
          <a:lstStyle/>
          <a:p>
            <a:pPr>
              <a:defRPr/>
            </a:pPr>
            <a:fld id="{9B521A5B-C5CF-4BF1-B720-68C8AD4B6B11}" type="slidenum">
              <a:rPr lang="zh-TW" altLang="en-US" smtClean="0"/>
              <a:pPr>
                <a:defRPr/>
              </a:pPr>
              <a:t>11</a:t>
            </a:fld>
            <a:endParaRPr lang="zh-TW" altLang="en-US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789753" y="178875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TW" sz="1200" b="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</a:t>
            </a:r>
            <a:endParaRPr kumimoji="1" lang="en-US" altLang="zh-TW" sz="12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86624" y="1861161"/>
            <a:ext cx="133513" cy="126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1071762" y="2112049"/>
            <a:ext cx="27590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3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勾選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，跳出「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MGM-MG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」申請介面</a:t>
            </a:r>
            <a:endParaRPr kumimoji="1" lang="en-US" altLang="zh-TW" sz="1100" dirty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l"/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(A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專案類型僅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MG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，反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灰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不提供選取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86" name="矩形 85"/>
          <p:cNvSpPr/>
          <p:nvPr/>
        </p:nvSpPr>
        <p:spPr>
          <a:xfrm>
            <a:off x="139107" y="2761034"/>
            <a:ext cx="939058" cy="2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專案起日</a:t>
            </a:r>
            <a:endParaRPr lang="en-US" altLang="zh-TW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304027" y="2756375"/>
            <a:ext cx="939058" cy="2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專案迄日</a:t>
            </a:r>
            <a:endParaRPr lang="en-US" altLang="zh-TW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132660" y="3027859"/>
            <a:ext cx="934997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1275672" y="3027859"/>
            <a:ext cx="934997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2251727" y="2855970"/>
            <a:ext cx="17347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4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填寫「專案起迄日」</a:t>
            </a:r>
            <a:endParaRPr kumimoji="1" lang="en-US" altLang="zh-TW" sz="1100" dirty="0" smtClean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7" name="文字方塊 116"/>
          <p:cNvSpPr txBox="1"/>
          <p:nvPr/>
        </p:nvSpPr>
        <p:spPr>
          <a:xfrm>
            <a:off x="3084280" y="3371911"/>
            <a:ext cx="12618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5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點選「送出」</a:t>
            </a:r>
            <a:endParaRPr kumimoji="1" lang="en-US" altLang="zh-TW" sz="1100" dirty="0" smtClean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80330" y="3789769"/>
            <a:ext cx="5846306" cy="25935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矩形 119"/>
          <p:cNvSpPr/>
          <p:nvPr/>
        </p:nvSpPr>
        <p:spPr>
          <a:xfrm>
            <a:off x="1074452" y="4648685"/>
            <a:ext cx="248395" cy="264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~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1" name="文字方塊 120"/>
          <p:cNvSpPr txBox="1"/>
          <p:nvPr/>
        </p:nvSpPr>
        <p:spPr>
          <a:xfrm>
            <a:off x="2664071" y="610633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TW" altLang="en-US" sz="1200" u="sng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送出</a:t>
            </a:r>
            <a:endParaRPr kumimoji="1" lang="zh-TW" altLang="en-US" sz="1200" u="sng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142727" y="3854408"/>
            <a:ext cx="939058" cy="2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代碼</a:t>
            </a:r>
            <a:endParaRPr lang="en-US" altLang="zh-TW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142909" y="4119660"/>
            <a:ext cx="934997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1074452" y="3991980"/>
            <a:ext cx="4969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Wingdings" panose="05000000000000000000" pitchFamily="2" charset="2"/>
              <a:buAutoNum type="circleNumWdWhitePlain" startAt="3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勾選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，專案代碼下拉選單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選取「金融特約商</a:t>
            </a:r>
            <a:r>
              <a:rPr kumimoji="1" lang="en-US" altLang="zh-TW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-BC 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」或「異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業合作</a:t>
            </a:r>
            <a:r>
              <a:rPr kumimoji="1" lang="en-US" altLang="zh-TW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BE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</a:t>
            </a:r>
            <a:endParaRPr kumimoji="1" lang="en-US" altLang="zh-TW" sz="1100" dirty="0" smtClean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149130" y="4447812"/>
            <a:ext cx="939058" cy="2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專案起日</a:t>
            </a:r>
            <a:endParaRPr lang="en-US" altLang="zh-TW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1314050" y="4443153"/>
            <a:ext cx="939058" cy="2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專案迄日</a:t>
            </a:r>
            <a:endParaRPr lang="en-US" altLang="zh-TW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142683" y="4685141"/>
            <a:ext cx="934997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1285695" y="4685141"/>
            <a:ext cx="934997" cy="230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1" name="文字方塊 150"/>
          <p:cNvSpPr txBox="1"/>
          <p:nvPr/>
        </p:nvSpPr>
        <p:spPr>
          <a:xfrm>
            <a:off x="2289129" y="4376513"/>
            <a:ext cx="17347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4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填寫「專案起迄日」</a:t>
            </a:r>
            <a:endParaRPr kumimoji="1" lang="en-US" altLang="zh-TW" sz="1100" dirty="0" smtClean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2" name="文字方塊 151"/>
          <p:cNvSpPr txBox="1"/>
          <p:nvPr/>
        </p:nvSpPr>
        <p:spPr>
          <a:xfrm>
            <a:off x="3084280" y="6100612"/>
            <a:ext cx="12618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7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點選「送出」</a:t>
            </a:r>
            <a:endParaRPr kumimoji="1" lang="en-US" altLang="zh-TW" sz="1100" dirty="0" smtClean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4" name="等腰三角形 153"/>
          <p:cNvSpPr>
            <a:spLocks noChangeAspect="1"/>
          </p:cNvSpPr>
          <p:nvPr/>
        </p:nvSpPr>
        <p:spPr>
          <a:xfrm rot="10800000">
            <a:off x="908388" y="4180135"/>
            <a:ext cx="108000" cy="107378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5" name="矩形 154"/>
          <p:cNvSpPr/>
          <p:nvPr/>
        </p:nvSpPr>
        <p:spPr>
          <a:xfrm>
            <a:off x="1280906" y="5203071"/>
            <a:ext cx="952464" cy="2649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2442006" y="5209175"/>
            <a:ext cx="952464" cy="2649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3603105" y="5206779"/>
            <a:ext cx="952464" cy="2649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1280906" y="4959309"/>
            <a:ext cx="939058" cy="2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公司名稱</a:t>
            </a:r>
            <a:endParaRPr lang="en-US" altLang="zh-TW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2454468" y="4959309"/>
            <a:ext cx="939058" cy="2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</a:p>
        </p:txBody>
      </p:sp>
      <p:sp>
        <p:nvSpPr>
          <p:cNvPr id="166" name="矩形 165"/>
          <p:cNvSpPr/>
          <p:nvPr/>
        </p:nvSpPr>
        <p:spPr>
          <a:xfrm>
            <a:off x="3572539" y="4959309"/>
            <a:ext cx="939058" cy="2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</a:t>
            </a:r>
            <a:endParaRPr lang="en-US" altLang="zh-TW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8" name="文字方塊 167"/>
          <p:cNvSpPr txBox="1"/>
          <p:nvPr/>
        </p:nvSpPr>
        <p:spPr>
          <a:xfrm>
            <a:off x="2289129" y="4714071"/>
            <a:ext cx="2969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5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填寫「分公司、公司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名稱、</a:t>
            </a:r>
            <a:r>
              <a:rPr kumimoji="1" lang="en-US" altLang="zh-TW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、推薦碼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</a:t>
            </a:r>
            <a:endParaRPr kumimoji="1" lang="en-US" altLang="zh-TW" sz="1100" dirty="0" smtClean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6044082" y="782213"/>
            <a:ext cx="5451926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Step2. 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專案編輯或刪除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6083362" y="1292079"/>
            <a:ext cx="1059707" cy="285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申請專案</a:t>
            </a:r>
          </a:p>
        </p:txBody>
      </p:sp>
      <p:sp>
        <p:nvSpPr>
          <p:cNvPr id="172" name="矩形 171"/>
          <p:cNvSpPr/>
          <p:nvPr/>
        </p:nvSpPr>
        <p:spPr>
          <a:xfrm>
            <a:off x="7288728" y="1292079"/>
            <a:ext cx="1059707" cy="285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管理專案</a:t>
            </a:r>
          </a:p>
        </p:txBody>
      </p:sp>
      <p:sp>
        <p:nvSpPr>
          <p:cNvPr id="173" name="文字方塊 172"/>
          <p:cNvSpPr txBox="1"/>
          <p:nvPr/>
        </p:nvSpPr>
        <p:spPr>
          <a:xfrm>
            <a:off x="7002853" y="1076887"/>
            <a:ext cx="45063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/>
            </a:pP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點擊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「管理專案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後，下拉選單選取「編輯或刪除專案」跳出介面</a:t>
            </a:r>
            <a:endParaRPr kumimoji="1" lang="en-US" altLang="zh-TW" sz="1100" dirty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222" name="表格 2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129439"/>
              </p:ext>
            </p:extLst>
          </p:nvPr>
        </p:nvGraphicFramePr>
        <p:xfrm>
          <a:off x="6208032" y="3104082"/>
          <a:ext cx="5195464" cy="1258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274">
                  <a:extLst>
                    <a:ext uri="{9D8B030D-6E8A-4147-A177-3AD203B41FA5}">
                      <a16:colId xmlns:a16="http://schemas.microsoft.com/office/drawing/2014/main" val="573852725"/>
                    </a:ext>
                  </a:extLst>
                </a:gridCol>
                <a:gridCol w="645190">
                  <a:extLst>
                    <a:ext uri="{9D8B030D-6E8A-4147-A177-3AD203B41FA5}">
                      <a16:colId xmlns:a16="http://schemas.microsoft.com/office/drawing/2014/main" val="259521656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90777944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65702321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32366938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4719907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1519290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4076688266"/>
                    </a:ext>
                  </a:extLst>
                </a:gridCol>
              </a:tblGrid>
              <a:tr h="209681">
                <a:tc>
                  <a:txBody>
                    <a:bodyPr/>
                    <a:lstStyle/>
                    <a:p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專案類型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分公司</a:t>
                      </a: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公司名稱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ID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推薦碼</a:t>
                      </a: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專案起訖日</a:t>
                      </a: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優惠狀態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806745"/>
                  </a:ext>
                </a:extLst>
              </a:tr>
              <a:tr h="349469">
                <a:tc>
                  <a:txBody>
                    <a:bodyPr/>
                    <a:lstStyle/>
                    <a:p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BC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經紀部</a:t>
                      </a:r>
                      <a:r>
                        <a:rPr lang="en-US" altLang="zh-TW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(9887)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台積電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12345678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BC233026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2025/1/1-2025/12/1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進行中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extLst>
                  <a:ext uri="{0D108BD9-81ED-4DB2-BD59-A6C34878D82A}">
                    <a16:rowId xmlns:a16="http://schemas.microsoft.com/office/drawing/2014/main" val="2548165778"/>
                  </a:ext>
                </a:extLst>
              </a:tr>
              <a:tr h="349469">
                <a:tc>
                  <a:txBody>
                    <a:bodyPr/>
                    <a:lstStyle/>
                    <a:p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BE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總公司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優步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23456789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BEUBERET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2025/1/1-2025/6/30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已過期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extLst>
                  <a:ext uri="{0D108BD9-81ED-4DB2-BD59-A6C34878D82A}">
                    <a16:rowId xmlns:a16="http://schemas.microsoft.com/office/drawing/2014/main" val="619531487"/>
                  </a:ext>
                </a:extLst>
              </a:tr>
              <a:tr h="349469">
                <a:tc>
                  <a:txBody>
                    <a:bodyPr/>
                    <a:lstStyle/>
                    <a:p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MG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--(</a:t>
                      </a:r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空白</a:t>
                      </a:r>
                      <a:r>
                        <a:rPr lang="en-US" altLang="zh-TW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--(</a:t>
                      </a: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空白</a:t>
                      </a:r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9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B123456789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MGABC001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2026/1/1-2026/12/30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進行中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extLst>
                  <a:ext uri="{0D108BD9-81ED-4DB2-BD59-A6C34878D82A}">
                    <a16:rowId xmlns:a16="http://schemas.microsoft.com/office/drawing/2014/main" val="3157530487"/>
                  </a:ext>
                </a:extLst>
              </a:tr>
            </a:tbl>
          </a:graphicData>
        </a:graphic>
      </p:graphicFrame>
      <p:sp>
        <p:nvSpPr>
          <p:cNvPr id="226" name="矩形 225"/>
          <p:cNvSpPr/>
          <p:nvPr/>
        </p:nvSpPr>
        <p:spPr>
          <a:xfrm>
            <a:off x="10913084" y="2816215"/>
            <a:ext cx="490412" cy="20406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刪除</a:t>
            </a:r>
          </a:p>
        </p:txBody>
      </p:sp>
      <p:sp>
        <p:nvSpPr>
          <p:cNvPr id="229" name="矩形 228"/>
          <p:cNvSpPr/>
          <p:nvPr/>
        </p:nvSpPr>
        <p:spPr>
          <a:xfrm>
            <a:off x="6281574" y="3408352"/>
            <a:ext cx="150424" cy="1504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2" name="矩形 231"/>
          <p:cNvSpPr/>
          <p:nvPr/>
        </p:nvSpPr>
        <p:spPr>
          <a:xfrm>
            <a:off x="6281574" y="3768421"/>
            <a:ext cx="150424" cy="1504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3" name="矩形 232"/>
          <p:cNvSpPr/>
          <p:nvPr/>
        </p:nvSpPr>
        <p:spPr>
          <a:xfrm>
            <a:off x="6080645" y="1618842"/>
            <a:ext cx="5406855" cy="28002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4" name="文字方塊 233"/>
          <p:cNvSpPr txBox="1"/>
          <p:nvPr/>
        </p:nvSpPr>
        <p:spPr>
          <a:xfrm>
            <a:off x="6220370" y="3726676"/>
            <a:ext cx="2728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TW" sz="1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</a:t>
            </a:r>
            <a:endParaRPr kumimoji="1" lang="zh-TW" altLang="en-US" sz="1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236" name="群組 235"/>
          <p:cNvGrpSpPr/>
          <p:nvPr/>
        </p:nvGrpSpPr>
        <p:grpSpPr>
          <a:xfrm>
            <a:off x="9133295" y="4889938"/>
            <a:ext cx="2142921" cy="749686"/>
            <a:chOff x="142590" y="3116445"/>
            <a:chExt cx="2142921" cy="749686"/>
          </a:xfrm>
        </p:grpSpPr>
        <p:sp>
          <p:nvSpPr>
            <p:cNvPr id="237" name="矩形 236"/>
            <p:cNvSpPr/>
            <p:nvPr/>
          </p:nvSpPr>
          <p:spPr>
            <a:xfrm>
              <a:off x="142590" y="3116445"/>
              <a:ext cx="2142921" cy="7496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8" name="文字方塊 237"/>
            <p:cNvSpPr txBox="1"/>
            <p:nvPr/>
          </p:nvSpPr>
          <p:spPr>
            <a:xfrm>
              <a:off x="142590" y="3204729"/>
              <a:ext cx="20730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TW" altLang="en-US" sz="1000" b="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確定要</a:t>
              </a:r>
              <a:r>
                <a:rPr kumimoji="1" lang="zh-TW" altLang="en-US" sz="1000" b="0" dirty="0" smtClean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移除「</a:t>
              </a:r>
              <a:r>
                <a:rPr kumimoji="1" lang="en-US" altLang="zh-TW" sz="1000" b="0" dirty="0" smtClean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BC233026</a:t>
              </a:r>
              <a:r>
                <a:rPr kumimoji="1" lang="zh-TW" altLang="en-US" sz="1000" b="0" dirty="0" smtClean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」專案</a:t>
              </a:r>
              <a:r>
                <a:rPr kumimoji="1" lang="zh-TW" altLang="en-US" sz="1000" b="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嗎</a:t>
              </a:r>
            </a:p>
          </p:txBody>
        </p:sp>
        <p:sp>
          <p:nvSpPr>
            <p:cNvPr id="239" name="文字方塊 238"/>
            <p:cNvSpPr txBox="1"/>
            <p:nvPr/>
          </p:nvSpPr>
          <p:spPr>
            <a:xfrm>
              <a:off x="764435" y="3511503"/>
              <a:ext cx="441146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TW" altLang="en-US" sz="1000" b="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確定</a:t>
              </a:r>
            </a:p>
          </p:txBody>
        </p:sp>
        <p:sp>
          <p:nvSpPr>
            <p:cNvPr id="240" name="文字方塊 239"/>
            <p:cNvSpPr txBox="1"/>
            <p:nvPr/>
          </p:nvSpPr>
          <p:spPr>
            <a:xfrm>
              <a:off x="1298111" y="3511502"/>
              <a:ext cx="441146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TW" altLang="en-US" sz="1000" b="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取消</a:t>
              </a:r>
            </a:p>
          </p:txBody>
        </p:sp>
      </p:grpSp>
      <p:grpSp>
        <p:nvGrpSpPr>
          <p:cNvPr id="242" name="群組 241"/>
          <p:cNvGrpSpPr/>
          <p:nvPr/>
        </p:nvGrpSpPr>
        <p:grpSpPr>
          <a:xfrm>
            <a:off x="9132521" y="5997109"/>
            <a:ext cx="2142921" cy="749686"/>
            <a:chOff x="142590" y="3116445"/>
            <a:chExt cx="2142921" cy="749686"/>
          </a:xfrm>
        </p:grpSpPr>
        <p:sp>
          <p:nvSpPr>
            <p:cNvPr id="243" name="矩形 242"/>
            <p:cNvSpPr/>
            <p:nvPr/>
          </p:nvSpPr>
          <p:spPr>
            <a:xfrm>
              <a:off x="142590" y="3116445"/>
              <a:ext cx="2142921" cy="7496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4" name="文字方塊 243"/>
            <p:cNvSpPr txBox="1"/>
            <p:nvPr/>
          </p:nvSpPr>
          <p:spPr>
            <a:xfrm>
              <a:off x="177242" y="3209649"/>
              <a:ext cx="210826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sz="1000" b="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推薦碼與專屬連結將失效，請確認</a:t>
              </a:r>
            </a:p>
          </p:txBody>
        </p:sp>
        <p:sp>
          <p:nvSpPr>
            <p:cNvPr id="245" name="文字方塊 244"/>
            <p:cNvSpPr txBox="1"/>
            <p:nvPr/>
          </p:nvSpPr>
          <p:spPr>
            <a:xfrm>
              <a:off x="764435" y="3511503"/>
              <a:ext cx="441146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TW" altLang="en-US" sz="1000" b="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確定</a:t>
              </a:r>
            </a:p>
          </p:txBody>
        </p:sp>
        <p:sp>
          <p:nvSpPr>
            <p:cNvPr id="246" name="文字方塊 245"/>
            <p:cNvSpPr txBox="1"/>
            <p:nvPr/>
          </p:nvSpPr>
          <p:spPr>
            <a:xfrm>
              <a:off x="1298111" y="3511502"/>
              <a:ext cx="441146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TW" altLang="en-US" sz="1000" b="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取消</a:t>
              </a:r>
            </a:p>
          </p:txBody>
        </p:sp>
      </p:grpSp>
      <p:cxnSp>
        <p:nvCxnSpPr>
          <p:cNvPr id="247" name="直線單箭頭接點 246"/>
          <p:cNvCxnSpPr>
            <a:stCxn id="237" idx="2"/>
            <a:endCxn id="243" idx="0"/>
          </p:cNvCxnSpPr>
          <p:nvPr/>
        </p:nvCxnSpPr>
        <p:spPr>
          <a:xfrm flipH="1">
            <a:off x="10203982" y="5639624"/>
            <a:ext cx="774" cy="357485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矩形 254"/>
          <p:cNvSpPr/>
          <p:nvPr/>
        </p:nvSpPr>
        <p:spPr>
          <a:xfrm>
            <a:off x="6281574" y="4104316"/>
            <a:ext cx="150424" cy="1504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接點 4"/>
          <p:cNvCxnSpPr/>
          <p:nvPr/>
        </p:nvCxnSpPr>
        <p:spPr>
          <a:xfrm>
            <a:off x="132660" y="1562193"/>
            <a:ext cx="57527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線接點 255"/>
          <p:cNvCxnSpPr/>
          <p:nvPr/>
        </p:nvCxnSpPr>
        <p:spPr>
          <a:xfrm>
            <a:off x="6044082" y="1559444"/>
            <a:ext cx="543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矩形 256"/>
          <p:cNvSpPr/>
          <p:nvPr/>
        </p:nvSpPr>
        <p:spPr>
          <a:xfrm>
            <a:off x="7250351" y="1706389"/>
            <a:ext cx="899256" cy="265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 smtClean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endParaRPr lang="zh-TW" altLang="en-US" sz="1000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59" name="群組 258"/>
          <p:cNvGrpSpPr/>
          <p:nvPr/>
        </p:nvGrpSpPr>
        <p:grpSpPr>
          <a:xfrm>
            <a:off x="6281109" y="1706389"/>
            <a:ext cx="899256" cy="1075131"/>
            <a:chOff x="6607361" y="1475642"/>
            <a:chExt cx="899256" cy="1075131"/>
          </a:xfrm>
        </p:grpSpPr>
        <p:sp>
          <p:nvSpPr>
            <p:cNvPr id="260" name="矩形 259"/>
            <p:cNvSpPr/>
            <p:nvPr/>
          </p:nvSpPr>
          <p:spPr>
            <a:xfrm>
              <a:off x="6607361" y="1475642"/>
              <a:ext cx="899256" cy="2651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 smtClean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專案</a:t>
              </a:r>
              <a:r>
                <a:rPr lang="zh-TW" altLang="en-US" sz="12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代碼</a:t>
              </a:r>
            </a:p>
          </p:txBody>
        </p:sp>
        <p:sp>
          <p:nvSpPr>
            <p:cNvPr id="261" name="矩形 260"/>
            <p:cNvSpPr/>
            <p:nvPr/>
          </p:nvSpPr>
          <p:spPr>
            <a:xfrm>
              <a:off x="6607361" y="1726429"/>
              <a:ext cx="899256" cy="82434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2" name="文字方塊 261"/>
            <p:cNvSpPr txBox="1"/>
            <p:nvPr/>
          </p:nvSpPr>
          <p:spPr>
            <a:xfrm>
              <a:off x="6855652" y="1772965"/>
              <a:ext cx="4026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TW" sz="1000" b="0" dirty="0" smtClean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MG</a:t>
              </a:r>
            </a:p>
          </p:txBody>
        </p:sp>
        <p:sp>
          <p:nvSpPr>
            <p:cNvPr id="263" name="矩形 262"/>
            <p:cNvSpPr/>
            <p:nvPr/>
          </p:nvSpPr>
          <p:spPr>
            <a:xfrm>
              <a:off x="6714967" y="1833005"/>
              <a:ext cx="126139" cy="1261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4" name="文字方塊 263"/>
            <p:cNvSpPr txBox="1"/>
            <p:nvPr/>
          </p:nvSpPr>
          <p:spPr>
            <a:xfrm>
              <a:off x="6855652" y="2014301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TW" sz="1000" b="0" dirty="0" smtClean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BC</a:t>
              </a:r>
            </a:p>
          </p:txBody>
        </p:sp>
        <p:sp>
          <p:nvSpPr>
            <p:cNvPr id="265" name="矩形 264"/>
            <p:cNvSpPr/>
            <p:nvPr/>
          </p:nvSpPr>
          <p:spPr>
            <a:xfrm>
              <a:off x="6714967" y="2074341"/>
              <a:ext cx="126139" cy="1261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6" name="文字方塊 265"/>
            <p:cNvSpPr txBox="1"/>
            <p:nvPr/>
          </p:nvSpPr>
          <p:spPr>
            <a:xfrm>
              <a:off x="6855652" y="2258181"/>
              <a:ext cx="3337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TW" sz="1000" b="0" dirty="0" smtClean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BE</a:t>
              </a:r>
            </a:p>
          </p:txBody>
        </p:sp>
        <p:sp>
          <p:nvSpPr>
            <p:cNvPr id="267" name="矩形 266"/>
            <p:cNvSpPr/>
            <p:nvPr/>
          </p:nvSpPr>
          <p:spPr>
            <a:xfrm>
              <a:off x="6714967" y="2318221"/>
              <a:ext cx="126139" cy="1261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8" name="文字方塊 267"/>
            <p:cNvSpPr txBox="1"/>
            <p:nvPr/>
          </p:nvSpPr>
          <p:spPr>
            <a:xfrm>
              <a:off x="6643223" y="2009677"/>
              <a:ext cx="2696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TW" sz="1000" b="0" dirty="0" smtClean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V</a:t>
              </a:r>
              <a:endParaRPr kumimoji="1" lang="zh-TW" altLang="en-US" sz="1000" b="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69" name="文字方塊 268"/>
            <p:cNvSpPr txBox="1"/>
            <p:nvPr/>
          </p:nvSpPr>
          <p:spPr>
            <a:xfrm>
              <a:off x="6643223" y="1772963"/>
              <a:ext cx="2696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TW" sz="1000" b="0" dirty="0" smtClean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V</a:t>
              </a:r>
              <a:endParaRPr kumimoji="1" lang="zh-TW" altLang="en-US" sz="1000" b="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70" name="文字方塊 269"/>
            <p:cNvSpPr txBox="1"/>
            <p:nvPr/>
          </p:nvSpPr>
          <p:spPr>
            <a:xfrm>
              <a:off x="6643223" y="2272456"/>
              <a:ext cx="2696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TW" sz="1000" b="0" dirty="0" smtClean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V</a:t>
              </a:r>
              <a:endParaRPr kumimoji="1" lang="zh-TW" altLang="en-US" sz="1000" b="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74" name="矩形 273"/>
          <p:cNvSpPr/>
          <p:nvPr/>
        </p:nvSpPr>
        <p:spPr>
          <a:xfrm>
            <a:off x="132660" y="5211226"/>
            <a:ext cx="952464" cy="2649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5" name="矩形 274"/>
          <p:cNvSpPr/>
          <p:nvPr/>
        </p:nvSpPr>
        <p:spPr>
          <a:xfrm>
            <a:off x="132660" y="4967464"/>
            <a:ext cx="939058" cy="2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分公司</a:t>
            </a:r>
            <a:endParaRPr lang="en-US" altLang="zh-TW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6" name="文字方塊 275"/>
          <p:cNvSpPr txBox="1"/>
          <p:nvPr/>
        </p:nvSpPr>
        <p:spPr>
          <a:xfrm>
            <a:off x="8870699" y="1714327"/>
            <a:ext cx="247437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2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查詢可勾選「專案代碼」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可複選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輸入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，點選查詢。跳出查詢結果如下表</a:t>
            </a:r>
            <a:endParaRPr kumimoji="1" lang="en-US" altLang="zh-TW" sz="1100" dirty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7" name="文字方塊 276"/>
          <p:cNvSpPr txBox="1"/>
          <p:nvPr/>
        </p:nvSpPr>
        <p:spPr>
          <a:xfrm>
            <a:off x="8227231" y="171676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TW" altLang="en-US" sz="1200" u="sng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查詢</a:t>
            </a:r>
            <a:endParaRPr kumimoji="1" lang="zh-TW" altLang="en-US" sz="1200" u="sng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8" name="文字方塊 277"/>
          <p:cNvSpPr txBox="1"/>
          <p:nvPr/>
        </p:nvSpPr>
        <p:spPr>
          <a:xfrm>
            <a:off x="7180365" y="2640526"/>
            <a:ext cx="32081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3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「編輯或刪除」預設反灰不可點選，如有勾選左方方格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僅單選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，才可點選「編輯或刪除」</a:t>
            </a:r>
            <a:endParaRPr kumimoji="1" lang="en-US" altLang="zh-TW" sz="1100" dirty="0" smtClean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9" name="文字方塊 278"/>
          <p:cNvSpPr txBox="1"/>
          <p:nvPr/>
        </p:nvSpPr>
        <p:spPr>
          <a:xfrm>
            <a:off x="8782203" y="4467775"/>
            <a:ext cx="28266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Wingdings" panose="05000000000000000000" pitchFamily="2" charset="2"/>
              <a:buAutoNum type="circleNumWdWhitePlain" startAt="4"/>
            </a:pP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點擊「刪除」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</a:t>
            </a:r>
            <a:endParaRPr kumimoji="1" lang="en-US" altLang="zh-TW" sz="1100" dirty="0" smtClean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28600" indent="-228600">
              <a:buFont typeface="Wingdings" panose="05000000000000000000" pitchFamily="2" charset="2"/>
              <a:buAutoNum type="circleNumWdWhitePlain" startAt="4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推薦碼已有使用紀錄，跳再確認彈窗</a:t>
            </a:r>
          </a:p>
        </p:txBody>
      </p:sp>
      <p:sp>
        <p:nvSpPr>
          <p:cNvPr id="104" name="等腰三角形 103"/>
          <p:cNvSpPr>
            <a:spLocks noChangeAspect="1"/>
          </p:cNvSpPr>
          <p:nvPr/>
        </p:nvSpPr>
        <p:spPr>
          <a:xfrm rot="10800000">
            <a:off x="8251236" y="1381300"/>
            <a:ext cx="108000" cy="107378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矩形 104"/>
          <p:cNvSpPr/>
          <p:nvPr/>
        </p:nvSpPr>
        <p:spPr>
          <a:xfrm>
            <a:off x="10374002" y="2814176"/>
            <a:ext cx="490412" cy="20406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編輯</a:t>
            </a:r>
            <a:endParaRPr lang="zh-TW" altLang="en-US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6" name="文字方塊 105"/>
          <p:cNvSpPr txBox="1"/>
          <p:nvPr/>
        </p:nvSpPr>
        <p:spPr>
          <a:xfrm>
            <a:off x="6057458" y="4472093"/>
            <a:ext cx="28266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Wingdings" panose="05000000000000000000" pitchFamily="2" charset="2"/>
              <a:buAutoNum type="circleNumWdWhitePlain" startAt="4"/>
            </a:pP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點擊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「編輯」後</a:t>
            </a:r>
            <a:endParaRPr kumimoji="1" lang="en-US" altLang="zh-TW" sz="1100" dirty="0" smtClean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28600" indent="-228600">
              <a:buFont typeface="Wingdings" panose="05000000000000000000" pitchFamily="2" charset="2"/>
              <a:buAutoNum type="circleNumWdWhitePlain" startAt="4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跳轉左方原申請介面，但僅開放編輯「專案迄日」，其他皆反灰不可點選，完成點選「送出」</a:t>
            </a:r>
            <a:endParaRPr kumimoji="1" lang="zh-TW" altLang="en-US" sz="1100" dirty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" name="直線單箭頭接點 2"/>
          <p:cNvCxnSpPr/>
          <p:nvPr/>
        </p:nvCxnSpPr>
        <p:spPr>
          <a:xfrm flipH="1">
            <a:off x="5691829" y="4961657"/>
            <a:ext cx="625142" cy="0"/>
          </a:xfrm>
          <a:prstGeom prst="straightConnector1">
            <a:avLst/>
          </a:prstGeom>
          <a:ln>
            <a:solidFill>
              <a:srgbClr val="E4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 108"/>
          <p:cNvSpPr/>
          <p:nvPr/>
        </p:nvSpPr>
        <p:spPr>
          <a:xfrm>
            <a:off x="127426" y="5787619"/>
            <a:ext cx="2105944" cy="2649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690443" y="5551196"/>
            <a:ext cx="939058" cy="2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折讓條件</a:t>
            </a:r>
            <a:endParaRPr lang="en-US" altLang="zh-TW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2334245" y="5787336"/>
            <a:ext cx="37690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6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填寫「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折讓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條件」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此步驟僅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BC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才有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223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521A5B-C5CF-4BF1-B720-68C8AD4B6B11}" type="slidenum">
              <a:rPr lang="zh-TW" altLang="en-US" smtClean="0"/>
              <a:pPr>
                <a:defRPr/>
              </a:pPr>
              <a:t>12</a:t>
            </a:fld>
            <a:endParaRPr lang="zh-TW" altLang="en-US" dirty="0"/>
          </a:p>
        </p:txBody>
      </p:sp>
      <p:sp>
        <p:nvSpPr>
          <p:cNvPr id="159" name="文字方塊 158"/>
          <p:cNvSpPr txBox="1"/>
          <p:nvPr/>
        </p:nvSpPr>
        <p:spPr>
          <a:xfrm>
            <a:off x="535022" y="223499"/>
            <a:ext cx="104792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推薦碼後台</a:t>
            </a:r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r>
              <a:rPr lang="en-US" altLang="zh-TW" sz="3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初步示意圖</a:t>
            </a:r>
            <a:r>
              <a:rPr lang="en-US" altLang="zh-TW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350197" y="235787"/>
            <a:ext cx="184825" cy="5232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文字方塊 129"/>
          <p:cNvSpPr txBox="1"/>
          <p:nvPr/>
        </p:nvSpPr>
        <p:spPr>
          <a:xfrm>
            <a:off x="2681722" y="1580326"/>
            <a:ext cx="335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TW" sz="1600" b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~</a:t>
            </a:r>
            <a:endParaRPr kumimoji="1" lang="zh-TW" altLang="en-US" sz="16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06767" y="824212"/>
            <a:ext cx="5451926" cy="27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Step3. 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專案查詢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07213" y="1138695"/>
            <a:ext cx="1059707" cy="285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申請專案</a:t>
            </a:r>
          </a:p>
        </p:txBody>
      </p:sp>
      <p:sp>
        <p:nvSpPr>
          <p:cNvPr id="75" name="矩形 74"/>
          <p:cNvSpPr/>
          <p:nvPr/>
        </p:nvSpPr>
        <p:spPr>
          <a:xfrm>
            <a:off x="1312579" y="1138695"/>
            <a:ext cx="1059707" cy="285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管理專案</a:t>
            </a:r>
          </a:p>
        </p:txBody>
      </p:sp>
      <p:sp>
        <p:nvSpPr>
          <p:cNvPr id="77" name="文字方塊 76"/>
          <p:cNvSpPr txBox="1"/>
          <p:nvPr/>
        </p:nvSpPr>
        <p:spPr>
          <a:xfrm>
            <a:off x="2372286" y="1131064"/>
            <a:ext cx="47884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/>
            </a:pP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點擊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「管理專案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後，下拉選單選取「查詢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其他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專案」跳出查詢介面</a:t>
            </a:r>
            <a:endParaRPr kumimoji="1" lang="en-US" altLang="zh-TW" sz="1100" dirty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80" name="表格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004185"/>
              </p:ext>
            </p:extLst>
          </p:nvPr>
        </p:nvGraphicFramePr>
        <p:xfrm>
          <a:off x="231882" y="2555157"/>
          <a:ext cx="7865264" cy="1063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235">
                  <a:extLst>
                    <a:ext uri="{9D8B030D-6E8A-4147-A177-3AD203B41FA5}">
                      <a16:colId xmlns:a16="http://schemas.microsoft.com/office/drawing/2014/main" val="2595216564"/>
                    </a:ext>
                  </a:extLst>
                </a:gridCol>
                <a:gridCol w="510284">
                  <a:extLst>
                    <a:ext uri="{9D8B030D-6E8A-4147-A177-3AD203B41FA5}">
                      <a16:colId xmlns:a16="http://schemas.microsoft.com/office/drawing/2014/main" val="3907779444"/>
                    </a:ext>
                  </a:extLst>
                </a:gridCol>
                <a:gridCol w="619631">
                  <a:extLst>
                    <a:ext uri="{9D8B030D-6E8A-4147-A177-3AD203B41FA5}">
                      <a16:colId xmlns:a16="http://schemas.microsoft.com/office/drawing/2014/main" val="1657023217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32366938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47199079"/>
                    </a:ext>
                  </a:extLst>
                </a:gridCol>
                <a:gridCol w="801876">
                  <a:extLst>
                    <a:ext uri="{9D8B030D-6E8A-4147-A177-3AD203B41FA5}">
                      <a16:colId xmlns:a16="http://schemas.microsoft.com/office/drawing/2014/main" val="2151929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04884461"/>
                    </a:ext>
                  </a:extLst>
                </a:gridCol>
                <a:gridCol w="3156238">
                  <a:extLst>
                    <a:ext uri="{9D8B030D-6E8A-4147-A177-3AD203B41FA5}">
                      <a16:colId xmlns:a16="http://schemas.microsoft.com/office/drawing/2014/main" val="2084332243"/>
                    </a:ext>
                  </a:extLst>
                </a:gridCol>
              </a:tblGrid>
              <a:tr h="24546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專案類型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分公司</a:t>
                      </a: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公司名稱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ID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推薦碼</a:t>
                      </a: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專案起訖日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開戶數總計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URL</a:t>
                      </a: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連結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806745"/>
                  </a:ext>
                </a:extLst>
              </a:tr>
              <a:tr h="4091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BC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經紀部</a:t>
                      </a:r>
                      <a:r>
                        <a:rPr lang="en-US" altLang="zh-TW" sz="9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(9887)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台積電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12345678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u="sng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BC233026</a:t>
                      </a:r>
                      <a:endParaRPr lang="zh-TW" altLang="en-US" sz="900" u="sng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2025/1/1-2025/12/1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https://global.yuanta.com.tw/NexusWebTrade/Login/WebOpenSMSGustGo?t=&amp;pno=&amp;IntroSrc=XXX</a:t>
                      </a: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指定參數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extLst>
                  <a:ext uri="{0D108BD9-81ED-4DB2-BD59-A6C34878D82A}">
                    <a16:rowId xmlns:a16="http://schemas.microsoft.com/office/drawing/2014/main" val="2548165778"/>
                  </a:ext>
                </a:extLst>
              </a:tr>
              <a:tr h="4091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BE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總公司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優步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23456789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u="sng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BEUBERET</a:t>
                      </a:r>
                      <a:endParaRPr lang="zh-TW" altLang="en-US" sz="900" u="sng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2025/1/1-2025/6/30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600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9894" marR="69894" marT="34947" marB="3494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https://global.yuanta.com.tw/NexusWebTrade/Login/WebOpenSMSGustGo?t=&amp;pno=&amp;IntroSrc=XXX</a:t>
                      </a: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指定參數</a:t>
                      </a:r>
                    </a:p>
                  </a:txBody>
                  <a:tcPr marL="69894" marR="69894" marT="34947" marB="34947" anchor="ctr"/>
                </a:tc>
                <a:extLst>
                  <a:ext uri="{0D108BD9-81ED-4DB2-BD59-A6C34878D82A}">
                    <a16:rowId xmlns:a16="http://schemas.microsoft.com/office/drawing/2014/main" val="619531487"/>
                  </a:ext>
                </a:extLst>
              </a:tr>
            </a:tbl>
          </a:graphicData>
        </a:graphic>
      </p:graphicFrame>
      <p:sp>
        <p:nvSpPr>
          <p:cNvPr id="84" name="矩形 83"/>
          <p:cNvSpPr/>
          <p:nvPr/>
        </p:nvSpPr>
        <p:spPr>
          <a:xfrm>
            <a:off x="104495" y="1465458"/>
            <a:ext cx="8095607" cy="22333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8" name="直線接點 117"/>
          <p:cNvCxnSpPr/>
          <p:nvPr/>
        </p:nvCxnSpPr>
        <p:spPr>
          <a:xfrm>
            <a:off x="67933" y="1406060"/>
            <a:ext cx="795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群組 120"/>
          <p:cNvGrpSpPr/>
          <p:nvPr/>
        </p:nvGrpSpPr>
        <p:grpSpPr>
          <a:xfrm>
            <a:off x="270496" y="1525296"/>
            <a:ext cx="899256" cy="876361"/>
            <a:chOff x="6607361" y="1674411"/>
            <a:chExt cx="899256" cy="876361"/>
          </a:xfrm>
        </p:grpSpPr>
        <p:sp>
          <p:nvSpPr>
            <p:cNvPr id="122" name="矩形 121"/>
            <p:cNvSpPr/>
            <p:nvPr/>
          </p:nvSpPr>
          <p:spPr>
            <a:xfrm>
              <a:off x="6607361" y="1674411"/>
              <a:ext cx="899256" cy="2651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 smtClean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專案</a:t>
              </a:r>
              <a:r>
                <a:rPr lang="zh-TW" altLang="en-US" sz="12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代碼</a:t>
              </a:r>
            </a:p>
          </p:txBody>
        </p:sp>
        <p:sp>
          <p:nvSpPr>
            <p:cNvPr id="123" name="矩形 122"/>
            <p:cNvSpPr/>
            <p:nvPr/>
          </p:nvSpPr>
          <p:spPr>
            <a:xfrm>
              <a:off x="6607361" y="1933025"/>
              <a:ext cx="899256" cy="61774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6" name="文字方塊 125"/>
            <p:cNvSpPr txBox="1"/>
            <p:nvPr/>
          </p:nvSpPr>
          <p:spPr>
            <a:xfrm>
              <a:off x="6855652" y="2014301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TW" sz="1000" b="0" dirty="0" smtClean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BC</a:t>
              </a:r>
            </a:p>
          </p:txBody>
        </p:sp>
        <p:sp>
          <p:nvSpPr>
            <p:cNvPr id="127" name="矩形 126"/>
            <p:cNvSpPr/>
            <p:nvPr/>
          </p:nvSpPr>
          <p:spPr>
            <a:xfrm>
              <a:off x="6714967" y="2074341"/>
              <a:ext cx="126139" cy="1261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8" name="文字方塊 127"/>
            <p:cNvSpPr txBox="1"/>
            <p:nvPr/>
          </p:nvSpPr>
          <p:spPr>
            <a:xfrm>
              <a:off x="6855652" y="2258181"/>
              <a:ext cx="3337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TW" sz="1000" b="0" dirty="0" smtClean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BE</a:t>
              </a:r>
            </a:p>
          </p:txBody>
        </p:sp>
        <p:sp>
          <p:nvSpPr>
            <p:cNvPr id="129" name="矩形 128"/>
            <p:cNvSpPr/>
            <p:nvPr/>
          </p:nvSpPr>
          <p:spPr>
            <a:xfrm>
              <a:off x="6714967" y="2318221"/>
              <a:ext cx="126139" cy="1261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1" name="文字方塊 130"/>
            <p:cNvSpPr txBox="1"/>
            <p:nvPr/>
          </p:nvSpPr>
          <p:spPr>
            <a:xfrm>
              <a:off x="6643223" y="2009677"/>
              <a:ext cx="2696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TW" sz="1000" b="0" dirty="0" smtClean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V</a:t>
              </a:r>
              <a:endParaRPr kumimoji="1" lang="zh-TW" altLang="en-US" sz="1000" b="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34" name="文字方塊 133"/>
            <p:cNvSpPr txBox="1"/>
            <p:nvPr/>
          </p:nvSpPr>
          <p:spPr>
            <a:xfrm>
              <a:off x="6643223" y="2272456"/>
              <a:ext cx="2696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TW" sz="1000" b="0" dirty="0" smtClean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V</a:t>
              </a:r>
              <a:endParaRPr kumimoji="1" lang="zh-TW" altLang="en-US" sz="1000" b="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35" name="文字方塊 134"/>
          <p:cNvSpPr txBox="1"/>
          <p:nvPr/>
        </p:nvSpPr>
        <p:spPr>
          <a:xfrm>
            <a:off x="3414075" y="2006900"/>
            <a:ext cx="39612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2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查詢可勾選「專案代碼」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可複選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選取「專案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起日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」、輸入「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」或「推薦碼」，點選查詢。跳出查詢結果</a:t>
            </a:r>
            <a:endParaRPr kumimoji="1" lang="en-US" altLang="zh-TW" sz="1100" dirty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3138661" y="218893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TW" altLang="en-US" sz="1200" u="sng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查詢</a:t>
            </a:r>
            <a:endParaRPr kumimoji="1" lang="zh-TW" altLang="en-US" sz="1200" u="sng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9" name="等腰三角形 138"/>
          <p:cNvSpPr>
            <a:spLocks noChangeAspect="1"/>
          </p:cNvSpPr>
          <p:nvPr/>
        </p:nvSpPr>
        <p:spPr>
          <a:xfrm rot="10800000">
            <a:off x="2275087" y="1227916"/>
            <a:ext cx="108000" cy="107378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0" name="文字方塊 139"/>
          <p:cNvSpPr txBox="1"/>
          <p:nvPr/>
        </p:nvSpPr>
        <p:spPr>
          <a:xfrm>
            <a:off x="1270872" y="1637813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TW" altLang="en-US" sz="1000" b="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專案起日</a:t>
            </a:r>
            <a:endParaRPr kumimoji="1" lang="zh-TW" altLang="en-US" sz="10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1968463" y="1623402"/>
            <a:ext cx="777187" cy="265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2026/1</a:t>
            </a:r>
            <a:r>
              <a:rPr lang="zh-TW" altLang="en-US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2984570" y="1623402"/>
            <a:ext cx="777187" cy="265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2026/3</a:t>
            </a:r>
            <a:r>
              <a:rPr lang="zh-TW" altLang="en-US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1289897" y="2218227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TW" altLang="en-US" sz="1000" b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推薦碼</a:t>
            </a:r>
          </a:p>
        </p:txBody>
      </p:sp>
      <p:sp>
        <p:nvSpPr>
          <p:cNvPr id="144" name="文字方塊 143"/>
          <p:cNvSpPr txBox="1"/>
          <p:nvPr/>
        </p:nvSpPr>
        <p:spPr>
          <a:xfrm>
            <a:off x="1433668" y="1928020"/>
            <a:ext cx="3177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TW" sz="1000" b="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</a:t>
            </a:r>
            <a:endParaRPr kumimoji="1" lang="zh-TW" altLang="en-US" sz="10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1959866" y="2214752"/>
            <a:ext cx="777187" cy="265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146" name="矩形 145"/>
          <p:cNvSpPr/>
          <p:nvPr/>
        </p:nvSpPr>
        <p:spPr>
          <a:xfrm>
            <a:off x="1968463" y="1924225"/>
            <a:ext cx="777187" cy="265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157" name="等腰三角形 156"/>
          <p:cNvSpPr>
            <a:spLocks noChangeAspect="1"/>
          </p:cNvSpPr>
          <p:nvPr/>
        </p:nvSpPr>
        <p:spPr>
          <a:xfrm rot="10800000">
            <a:off x="2570137" y="1709350"/>
            <a:ext cx="108000" cy="107378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8" name="等腰三角形 157"/>
          <p:cNvSpPr>
            <a:spLocks noChangeAspect="1"/>
          </p:cNvSpPr>
          <p:nvPr/>
        </p:nvSpPr>
        <p:spPr>
          <a:xfrm rot="10800000">
            <a:off x="3577105" y="1709350"/>
            <a:ext cx="108000" cy="107378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2" name="文字方塊 161"/>
          <p:cNvSpPr txBox="1"/>
          <p:nvPr/>
        </p:nvSpPr>
        <p:spPr>
          <a:xfrm>
            <a:off x="3761757" y="1532590"/>
            <a:ext cx="24471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285750" indent="-285750">
              <a:buFont typeface="Arial" panose="020B0604020202020204" pitchFamily="34" charset="0"/>
              <a:buChar char="•"/>
              <a:defRPr kumimoji="1" sz="120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indent="0">
              <a:buNone/>
            </a:pPr>
            <a:r>
              <a:rPr lang="zh-TW" altLang="en-US" sz="1100" dirty="0">
                <a:solidFill>
                  <a:srgbClr val="C00000"/>
                </a:solidFill>
              </a:rPr>
              <a:t>註</a:t>
            </a:r>
            <a:r>
              <a:rPr lang="zh-TW" altLang="en-US" sz="1100" dirty="0" smtClean="0">
                <a:solidFill>
                  <a:srgbClr val="C00000"/>
                </a:solidFill>
              </a:rPr>
              <a:t>：專案起日預設</a:t>
            </a:r>
            <a:r>
              <a:rPr lang="zh-TW" altLang="en-US" sz="1100" dirty="0">
                <a:solidFill>
                  <a:srgbClr val="C00000"/>
                </a:solidFill>
              </a:rPr>
              <a:t>為近</a:t>
            </a:r>
            <a:r>
              <a:rPr lang="en-US" altLang="zh-TW" sz="1100" dirty="0">
                <a:solidFill>
                  <a:srgbClr val="C00000"/>
                </a:solidFill>
              </a:rPr>
              <a:t>3</a:t>
            </a:r>
            <a:r>
              <a:rPr lang="zh-TW" altLang="en-US" sz="1100" dirty="0">
                <a:solidFill>
                  <a:srgbClr val="C00000"/>
                </a:solidFill>
              </a:rPr>
              <a:t>個月，例如</a:t>
            </a:r>
            <a:r>
              <a:rPr lang="en-US" altLang="zh-TW" sz="1100" dirty="0" smtClean="0">
                <a:solidFill>
                  <a:srgbClr val="C00000"/>
                </a:solidFill>
              </a:rPr>
              <a:t>2026</a:t>
            </a:r>
            <a:r>
              <a:rPr lang="zh-TW" altLang="en-US" sz="1100" dirty="0" smtClean="0">
                <a:solidFill>
                  <a:srgbClr val="C00000"/>
                </a:solidFill>
              </a:rPr>
              <a:t>年</a:t>
            </a:r>
            <a:r>
              <a:rPr lang="en-US" altLang="zh-TW" sz="1100" dirty="0" smtClean="0">
                <a:solidFill>
                  <a:srgbClr val="C00000"/>
                </a:solidFill>
              </a:rPr>
              <a:t>3</a:t>
            </a:r>
            <a:r>
              <a:rPr lang="zh-TW" altLang="en-US" sz="1100" dirty="0" smtClean="0">
                <a:solidFill>
                  <a:srgbClr val="C00000"/>
                </a:solidFill>
              </a:rPr>
              <a:t>月</a:t>
            </a:r>
            <a:r>
              <a:rPr lang="zh-TW" altLang="en-US" sz="1100" dirty="0">
                <a:solidFill>
                  <a:srgbClr val="C00000"/>
                </a:solidFill>
              </a:rPr>
              <a:t>時，預設為</a:t>
            </a:r>
            <a:r>
              <a:rPr lang="en-US" altLang="zh-TW" sz="1100" dirty="0" smtClean="0">
                <a:solidFill>
                  <a:srgbClr val="C00000"/>
                </a:solidFill>
              </a:rPr>
              <a:t>2026/1-3</a:t>
            </a:r>
            <a:endParaRPr lang="en-US" altLang="zh-TW" sz="1100" dirty="0">
              <a:solidFill>
                <a:srgbClr val="C00000"/>
              </a:solidFill>
            </a:endParaRPr>
          </a:p>
        </p:txBody>
      </p:sp>
      <p:sp>
        <p:nvSpPr>
          <p:cNvPr id="163" name="文字方塊 162"/>
          <p:cNvSpPr txBox="1"/>
          <p:nvPr/>
        </p:nvSpPr>
        <p:spPr>
          <a:xfrm>
            <a:off x="2375668" y="3939614"/>
            <a:ext cx="47500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/>
            </a:pP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點擊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「管理專案</a:t>
            </a: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後，下拉選單選取「查詢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MGM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專案」跳出查詢介面</a:t>
            </a:r>
            <a:endParaRPr kumimoji="1" lang="en-US" altLang="zh-TW" sz="1100" dirty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151077" y="4237061"/>
            <a:ext cx="6662678" cy="254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7" name="直線接點 166"/>
          <p:cNvCxnSpPr/>
          <p:nvPr/>
        </p:nvCxnSpPr>
        <p:spPr>
          <a:xfrm>
            <a:off x="114514" y="4177663"/>
            <a:ext cx="576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字方塊 179"/>
          <p:cNvSpPr txBox="1"/>
          <p:nvPr/>
        </p:nvSpPr>
        <p:spPr>
          <a:xfrm>
            <a:off x="1900969" y="4722849"/>
            <a:ext cx="40967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2"/>
            </a:pP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查詢可選取「使用日期」、輸入「推薦碼」、「推薦者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」、「使用者</a:t>
            </a:r>
            <a:r>
              <a:rPr kumimoji="1" lang="en-US" altLang="zh-TW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」，點選查詢。跳出查詢結果</a:t>
            </a:r>
            <a:endParaRPr kumimoji="1" lang="en-US" altLang="zh-TW" sz="1100" dirty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1" name="文字方塊 190"/>
          <p:cNvSpPr txBox="1"/>
          <p:nvPr/>
        </p:nvSpPr>
        <p:spPr>
          <a:xfrm>
            <a:off x="2739499" y="4271121"/>
            <a:ext cx="2530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285750" indent="-285750">
              <a:buFont typeface="Arial" panose="020B0604020202020204" pitchFamily="34" charset="0"/>
              <a:buChar char="•"/>
              <a:defRPr kumimoji="1" sz="120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marL="0" indent="0">
              <a:buNone/>
            </a:pPr>
            <a:r>
              <a:rPr lang="zh-TW" altLang="en-US" sz="1100" dirty="0">
                <a:solidFill>
                  <a:srgbClr val="C00000"/>
                </a:solidFill>
              </a:rPr>
              <a:t>註</a:t>
            </a:r>
            <a:r>
              <a:rPr lang="zh-TW" altLang="en-US" sz="1100" dirty="0" smtClean="0">
                <a:solidFill>
                  <a:srgbClr val="C00000"/>
                </a:solidFill>
              </a:rPr>
              <a:t>：使用日期預設</a:t>
            </a:r>
            <a:r>
              <a:rPr lang="zh-TW" altLang="en-US" sz="1100" dirty="0">
                <a:solidFill>
                  <a:srgbClr val="C00000"/>
                </a:solidFill>
              </a:rPr>
              <a:t>為近</a:t>
            </a:r>
            <a:r>
              <a:rPr lang="en-US" altLang="zh-TW" sz="1100" dirty="0">
                <a:solidFill>
                  <a:srgbClr val="C00000"/>
                </a:solidFill>
              </a:rPr>
              <a:t>3</a:t>
            </a:r>
            <a:r>
              <a:rPr lang="zh-TW" altLang="en-US" sz="1100" dirty="0">
                <a:solidFill>
                  <a:srgbClr val="C00000"/>
                </a:solidFill>
              </a:rPr>
              <a:t>個月</a:t>
            </a:r>
            <a:r>
              <a:rPr lang="zh-TW" altLang="en-US" sz="1100" dirty="0" smtClean="0">
                <a:solidFill>
                  <a:srgbClr val="C00000"/>
                </a:solidFill>
              </a:rPr>
              <a:t>，</a:t>
            </a:r>
            <a:endParaRPr lang="en-US" altLang="zh-TW" sz="1100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TW" altLang="en-US" sz="1100" dirty="0" smtClean="0">
                <a:solidFill>
                  <a:srgbClr val="C00000"/>
                </a:solidFill>
              </a:rPr>
              <a:t>例如</a:t>
            </a:r>
            <a:r>
              <a:rPr lang="en-US" altLang="zh-TW" sz="1100" dirty="0" smtClean="0">
                <a:solidFill>
                  <a:srgbClr val="C00000"/>
                </a:solidFill>
              </a:rPr>
              <a:t>2026</a:t>
            </a:r>
            <a:r>
              <a:rPr lang="zh-TW" altLang="en-US" sz="1100" dirty="0" smtClean="0">
                <a:solidFill>
                  <a:srgbClr val="C00000"/>
                </a:solidFill>
              </a:rPr>
              <a:t>年</a:t>
            </a:r>
            <a:r>
              <a:rPr lang="en-US" altLang="zh-TW" sz="1100" dirty="0" smtClean="0">
                <a:solidFill>
                  <a:srgbClr val="C00000"/>
                </a:solidFill>
              </a:rPr>
              <a:t>3</a:t>
            </a:r>
            <a:r>
              <a:rPr lang="zh-TW" altLang="en-US" sz="1100" dirty="0" smtClean="0">
                <a:solidFill>
                  <a:srgbClr val="C00000"/>
                </a:solidFill>
              </a:rPr>
              <a:t>月</a:t>
            </a:r>
            <a:r>
              <a:rPr lang="zh-TW" altLang="en-US" sz="1100" dirty="0">
                <a:solidFill>
                  <a:srgbClr val="C00000"/>
                </a:solidFill>
              </a:rPr>
              <a:t>時，預設為</a:t>
            </a:r>
            <a:r>
              <a:rPr lang="en-US" altLang="zh-TW" sz="1100" dirty="0" smtClean="0">
                <a:solidFill>
                  <a:srgbClr val="C00000"/>
                </a:solidFill>
              </a:rPr>
              <a:t>2026/1-3</a:t>
            </a:r>
            <a:endParaRPr lang="en-US" altLang="zh-TW" sz="1100" dirty="0">
              <a:solidFill>
                <a:srgbClr val="C00000"/>
              </a:solidFill>
            </a:endParaRPr>
          </a:p>
        </p:txBody>
      </p:sp>
      <p:sp>
        <p:nvSpPr>
          <p:cNvPr id="192" name="矩形 191"/>
          <p:cNvSpPr/>
          <p:nvPr/>
        </p:nvSpPr>
        <p:spPr>
          <a:xfrm>
            <a:off x="101698" y="3929839"/>
            <a:ext cx="1059707" cy="285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申請專案</a:t>
            </a:r>
          </a:p>
        </p:txBody>
      </p:sp>
      <p:sp>
        <p:nvSpPr>
          <p:cNvPr id="193" name="矩形 192"/>
          <p:cNvSpPr/>
          <p:nvPr/>
        </p:nvSpPr>
        <p:spPr>
          <a:xfrm>
            <a:off x="1307064" y="3929839"/>
            <a:ext cx="1059707" cy="285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管理專案</a:t>
            </a:r>
          </a:p>
        </p:txBody>
      </p:sp>
      <p:sp>
        <p:nvSpPr>
          <p:cNvPr id="194" name="等腰三角形 193"/>
          <p:cNvSpPr>
            <a:spLocks noChangeAspect="1"/>
          </p:cNvSpPr>
          <p:nvPr/>
        </p:nvSpPr>
        <p:spPr>
          <a:xfrm rot="10800000">
            <a:off x="2269572" y="4019060"/>
            <a:ext cx="108000" cy="107378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5" name="文字方塊 194"/>
          <p:cNvSpPr txBox="1"/>
          <p:nvPr/>
        </p:nvSpPr>
        <p:spPr>
          <a:xfrm>
            <a:off x="248613" y="4297043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TW" altLang="en-US" sz="1000" b="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使用日期</a:t>
            </a:r>
            <a:endParaRPr kumimoji="1" lang="zh-TW" altLang="en-US" sz="10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6" name="矩形 195"/>
          <p:cNvSpPr/>
          <p:nvPr/>
        </p:nvSpPr>
        <p:spPr>
          <a:xfrm>
            <a:off x="946204" y="4282632"/>
            <a:ext cx="777187" cy="265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2026/1</a:t>
            </a:r>
            <a:r>
              <a:rPr lang="zh-TW" altLang="en-US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8" name="文字方塊 197"/>
          <p:cNvSpPr txBox="1"/>
          <p:nvPr/>
        </p:nvSpPr>
        <p:spPr>
          <a:xfrm>
            <a:off x="1705264" y="4237061"/>
            <a:ext cx="335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TW" sz="1600" b="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~</a:t>
            </a:r>
            <a:endParaRPr kumimoji="1" lang="zh-TW" altLang="en-US" sz="16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1962311" y="4282632"/>
            <a:ext cx="777187" cy="265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2026/3</a:t>
            </a:r>
            <a:r>
              <a:rPr lang="zh-TW" altLang="en-US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1" name="文字方塊 200"/>
          <p:cNvSpPr txBox="1"/>
          <p:nvPr/>
        </p:nvSpPr>
        <p:spPr>
          <a:xfrm>
            <a:off x="261231" y="462422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TW" altLang="en-US" sz="1000" b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推薦碼</a:t>
            </a:r>
          </a:p>
        </p:txBody>
      </p:sp>
      <p:sp>
        <p:nvSpPr>
          <p:cNvPr id="202" name="文字方塊 201"/>
          <p:cNvSpPr txBox="1"/>
          <p:nvPr/>
        </p:nvSpPr>
        <p:spPr>
          <a:xfrm>
            <a:off x="261231" y="4946225"/>
            <a:ext cx="7024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TW" altLang="en-US" sz="1000" b="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推薦者</a:t>
            </a:r>
            <a:r>
              <a:rPr kumimoji="1" lang="en-US" altLang="zh-TW" sz="1000" b="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</a:t>
            </a:r>
            <a:endParaRPr kumimoji="1" lang="zh-TW" altLang="en-US" sz="10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3" name="矩形 202"/>
          <p:cNvSpPr/>
          <p:nvPr/>
        </p:nvSpPr>
        <p:spPr>
          <a:xfrm>
            <a:off x="958822" y="4929681"/>
            <a:ext cx="777187" cy="265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4" name="矩形 203"/>
          <p:cNvSpPr/>
          <p:nvPr/>
        </p:nvSpPr>
        <p:spPr>
          <a:xfrm>
            <a:off x="958822" y="4605282"/>
            <a:ext cx="777187" cy="265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6" name="文字方塊 205"/>
          <p:cNvSpPr txBox="1"/>
          <p:nvPr/>
        </p:nvSpPr>
        <p:spPr>
          <a:xfrm>
            <a:off x="5862234" y="5384230"/>
            <a:ext cx="8242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TW" altLang="en-US" sz="1000" u="sng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匯出</a:t>
            </a:r>
            <a:r>
              <a:rPr kumimoji="1" lang="en-US" altLang="zh-TW" sz="1000" u="sng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EXCEL</a:t>
            </a:r>
            <a:endParaRPr kumimoji="1" lang="zh-TW" altLang="en-US" sz="1000" u="sng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7" name="文字方塊 206"/>
          <p:cNvSpPr txBox="1"/>
          <p:nvPr/>
        </p:nvSpPr>
        <p:spPr>
          <a:xfrm>
            <a:off x="261231" y="5276536"/>
            <a:ext cx="7024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TW" altLang="en-US" sz="1000" b="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</a:t>
            </a:r>
            <a:r>
              <a:rPr kumimoji="1" lang="zh-TW" altLang="en-US" sz="1000" b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者</a:t>
            </a:r>
            <a:r>
              <a:rPr kumimoji="1" lang="en-US" altLang="zh-TW" sz="1000" b="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ID</a:t>
            </a:r>
            <a:endParaRPr kumimoji="1" lang="zh-TW" altLang="en-US" sz="10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8" name="矩形 207"/>
          <p:cNvSpPr/>
          <p:nvPr/>
        </p:nvSpPr>
        <p:spPr>
          <a:xfrm>
            <a:off x="958822" y="5259992"/>
            <a:ext cx="777187" cy="265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0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1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11" name="表格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625629"/>
              </p:ext>
            </p:extLst>
          </p:nvPr>
        </p:nvGraphicFramePr>
        <p:xfrm>
          <a:off x="261229" y="5644469"/>
          <a:ext cx="6343272" cy="1009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00">
                  <a:extLst>
                    <a:ext uri="{9D8B030D-6E8A-4147-A177-3AD203B41FA5}">
                      <a16:colId xmlns:a16="http://schemas.microsoft.com/office/drawing/2014/main" val="1184115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34845920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037341550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677708435"/>
                    </a:ext>
                  </a:extLst>
                </a:gridCol>
                <a:gridCol w="771066">
                  <a:extLst>
                    <a:ext uri="{9D8B030D-6E8A-4147-A177-3AD203B41FA5}">
                      <a16:colId xmlns:a16="http://schemas.microsoft.com/office/drawing/2014/main" val="444700460"/>
                    </a:ext>
                  </a:extLst>
                </a:gridCol>
                <a:gridCol w="849402">
                  <a:extLst>
                    <a:ext uri="{9D8B030D-6E8A-4147-A177-3AD203B41FA5}">
                      <a16:colId xmlns:a16="http://schemas.microsoft.com/office/drawing/2014/main" val="4444013"/>
                    </a:ext>
                  </a:extLst>
                </a:gridCol>
                <a:gridCol w="849402">
                  <a:extLst>
                    <a:ext uri="{9D8B030D-6E8A-4147-A177-3AD203B41FA5}">
                      <a16:colId xmlns:a16="http://schemas.microsoft.com/office/drawing/2014/main" val="962101137"/>
                    </a:ext>
                  </a:extLst>
                </a:gridCol>
                <a:gridCol w="849402">
                  <a:extLst>
                    <a:ext uri="{9D8B030D-6E8A-4147-A177-3AD203B41FA5}">
                      <a16:colId xmlns:a16="http://schemas.microsoft.com/office/drawing/2014/main" val="2293634265"/>
                    </a:ext>
                  </a:extLst>
                </a:gridCol>
              </a:tblGrid>
              <a:tr h="24882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使用日期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分公司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推薦碼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推薦人</a:t>
                      </a:r>
                      <a:r>
                        <a:rPr lang="en-US" altLang="zh-TW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ID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推薦人姓名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被推薦人</a:t>
                      </a:r>
                      <a:r>
                        <a:rPr lang="en-US" altLang="zh-TW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ID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被推薦人姓名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被推薦人帳號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104077"/>
                  </a:ext>
                </a:extLst>
              </a:tr>
              <a:tr h="3803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2025/2/25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經紀部</a:t>
                      </a:r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(9887)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u="none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MG</a:t>
                      </a:r>
                      <a:r>
                        <a:rPr lang="en-US" altLang="zh-TW" sz="900" b="1" u="none" dirty="0" smtClean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ABC123</a:t>
                      </a:r>
                      <a:endParaRPr lang="zh-TW" altLang="en-US" sz="900" b="1" u="none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B124872295</a:t>
                      </a:r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陳小明</a:t>
                      </a:r>
                      <a:endParaRPr lang="zh-TW" altLang="en-US" sz="9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A123456789</a:t>
                      </a:r>
                      <a:endParaRPr lang="zh-TW" altLang="en-US" sz="900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王大明</a:t>
                      </a: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9831234</a:t>
                      </a:r>
                      <a:endParaRPr lang="zh-TW" altLang="en-US" sz="900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extLst>
                  <a:ext uri="{0D108BD9-81ED-4DB2-BD59-A6C34878D82A}">
                    <a16:rowId xmlns:a16="http://schemas.microsoft.com/office/drawing/2014/main" val="792050182"/>
                  </a:ext>
                </a:extLst>
              </a:tr>
              <a:tr h="3803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2025/2/23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松江</a:t>
                      </a:r>
                      <a:endParaRPr lang="en-US" altLang="zh-TW" sz="9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(9801)</a:t>
                      </a:r>
                      <a:endParaRPr lang="zh-TW" altLang="en-US" sz="9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u="none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MGJAG669</a:t>
                      </a:r>
                      <a:endParaRPr lang="zh-TW" altLang="en-US" sz="900" b="0" u="none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F224196050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林小維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E224937009</a:t>
                      </a: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方小維</a:t>
                      </a:r>
                      <a:endParaRPr lang="en-US" altLang="zh-TW" sz="900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9824567</a:t>
                      </a:r>
                      <a:endParaRPr lang="zh-TW" altLang="en-US" sz="900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extLst>
                  <a:ext uri="{0D108BD9-81ED-4DB2-BD59-A6C34878D82A}">
                    <a16:rowId xmlns:a16="http://schemas.microsoft.com/office/drawing/2014/main" val="3728627177"/>
                  </a:ext>
                </a:extLst>
              </a:tr>
            </a:tbl>
          </a:graphicData>
        </a:graphic>
      </p:graphicFrame>
      <p:sp>
        <p:nvSpPr>
          <p:cNvPr id="212" name="等腰三角形 211"/>
          <p:cNvSpPr>
            <a:spLocks noChangeAspect="1"/>
          </p:cNvSpPr>
          <p:nvPr/>
        </p:nvSpPr>
        <p:spPr>
          <a:xfrm rot="10800000">
            <a:off x="1548036" y="4351923"/>
            <a:ext cx="108000" cy="107378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3" name="等腰三角形 212"/>
          <p:cNvSpPr>
            <a:spLocks noChangeAspect="1"/>
          </p:cNvSpPr>
          <p:nvPr/>
        </p:nvSpPr>
        <p:spPr>
          <a:xfrm rot="10800000">
            <a:off x="2555004" y="4351923"/>
            <a:ext cx="108000" cy="107378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6" name="文字方塊 215"/>
          <p:cNvSpPr txBox="1"/>
          <p:nvPr/>
        </p:nvSpPr>
        <p:spPr>
          <a:xfrm>
            <a:off x="2077349" y="524573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TW" altLang="en-US" sz="1200" u="sng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查詢</a:t>
            </a:r>
            <a:endParaRPr kumimoji="1" lang="zh-TW" altLang="en-US" sz="1200" u="sng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7" name="文字方塊 216"/>
          <p:cNvSpPr txBox="1"/>
          <p:nvPr/>
        </p:nvSpPr>
        <p:spPr>
          <a:xfrm>
            <a:off x="7347547" y="2298618"/>
            <a:ext cx="8242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TW" altLang="en-US" sz="1000" u="sng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匯出</a:t>
            </a:r>
            <a:r>
              <a:rPr kumimoji="1" lang="en-US" altLang="zh-TW" sz="1000" u="sng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EXCEL</a:t>
            </a:r>
            <a:endParaRPr kumimoji="1" lang="zh-TW" altLang="en-US" sz="1000" u="sng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946204" y="6548695"/>
            <a:ext cx="287610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註：推薦人</a:t>
            </a:r>
            <a:r>
              <a:rPr lang="en-US" altLang="zh-TW" sz="110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sz="110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相同，推薦</a:t>
            </a:r>
            <a:r>
              <a:rPr lang="zh-TW" altLang="en-US" sz="11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碼後六碼必須</a:t>
            </a:r>
            <a:r>
              <a:rPr lang="zh-TW" altLang="en-US" sz="110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相同</a:t>
            </a:r>
            <a:endParaRPr lang="en-US" altLang="zh-TW" sz="11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1949879" y="3063671"/>
            <a:ext cx="2846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Font typeface="Wingdings" panose="05000000000000000000" pitchFamily="2" charset="2"/>
              <a:buAutoNum type="circleNumWdWhitePlain" startAt="3"/>
            </a:pPr>
            <a:r>
              <a:rPr kumimoji="1" lang="zh-TW" altLang="en-US" sz="1100" dirty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可點</a:t>
            </a:r>
            <a:r>
              <a:rPr kumimoji="1" lang="zh-TW" altLang="en-US" sz="1100" dirty="0" smtClean="0">
                <a:solidFill>
                  <a:srgbClr val="E9620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擊「推薦碼」，展開客戶資料查看</a:t>
            </a:r>
            <a:endParaRPr kumimoji="1" lang="en-US" altLang="zh-TW" sz="1100" dirty="0">
              <a:solidFill>
                <a:srgbClr val="E9620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62" name="圖片 61"/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2567715" y="2712556"/>
            <a:ext cx="264241" cy="264241"/>
          </a:xfrm>
          <a:prstGeom prst="rect">
            <a:avLst/>
          </a:prstGeom>
        </p:spPr>
      </p:pic>
      <p:cxnSp>
        <p:nvCxnSpPr>
          <p:cNvPr id="66" name="直線接點 65"/>
          <p:cNvCxnSpPr/>
          <p:nvPr/>
        </p:nvCxnSpPr>
        <p:spPr>
          <a:xfrm>
            <a:off x="114514" y="3823671"/>
            <a:ext cx="11175966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表格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217066"/>
              </p:ext>
            </p:extLst>
          </p:nvPr>
        </p:nvGraphicFramePr>
        <p:xfrm>
          <a:off x="8498754" y="1138696"/>
          <a:ext cx="2895254" cy="2458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1184115263"/>
                    </a:ext>
                  </a:extLst>
                </a:gridCol>
                <a:gridCol w="724548">
                  <a:extLst>
                    <a:ext uri="{9D8B030D-6E8A-4147-A177-3AD203B41FA5}">
                      <a16:colId xmlns:a16="http://schemas.microsoft.com/office/drawing/2014/main" val="3699570751"/>
                    </a:ext>
                  </a:extLst>
                </a:gridCol>
                <a:gridCol w="724548">
                  <a:extLst>
                    <a:ext uri="{9D8B030D-6E8A-4147-A177-3AD203B41FA5}">
                      <a16:colId xmlns:a16="http://schemas.microsoft.com/office/drawing/2014/main" val="444700460"/>
                    </a:ext>
                  </a:extLst>
                </a:gridCol>
                <a:gridCol w="798158">
                  <a:extLst>
                    <a:ext uri="{9D8B030D-6E8A-4147-A177-3AD203B41FA5}">
                      <a16:colId xmlns:a16="http://schemas.microsoft.com/office/drawing/2014/main" val="4444013"/>
                    </a:ext>
                  </a:extLst>
                </a:gridCol>
              </a:tblGrid>
              <a:tr h="34557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開戶日期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分公司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客戶姓名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客戶帳號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104077"/>
                  </a:ext>
                </a:extLst>
              </a:tr>
              <a:tr h="5282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2025/3/1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經紀部</a:t>
                      </a:r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(9887)</a:t>
                      </a:r>
                      <a:endParaRPr lang="zh-TW" altLang="en-US" sz="9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王大明</a:t>
                      </a: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9831234</a:t>
                      </a:r>
                      <a:endParaRPr lang="zh-TW" altLang="en-US" sz="900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extLst>
                  <a:ext uri="{0D108BD9-81ED-4DB2-BD59-A6C34878D82A}">
                    <a16:rowId xmlns:a16="http://schemas.microsoft.com/office/drawing/2014/main" val="792050182"/>
                  </a:ext>
                </a:extLst>
              </a:tr>
              <a:tr h="5282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2025/5/6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經紀部</a:t>
                      </a:r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(9887)</a:t>
                      </a:r>
                      <a:endParaRPr lang="zh-TW" altLang="en-US" sz="9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方小維</a:t>
                      </a:r>
                      <a:endParaRPr lang="en-US" altLang="zh-TW" sz="900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9824567</a:t>
                      </a:r>
                      <a:endParaRPr lang="zh-TW" altLang="en-US" sz="900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extLst>
                  <a:ext uri="{0D108BD9-81ED-4DB2-BD59-A6C34878D82A}">
                    <a16:rowId xmlns:a16="http://schemas.microsoft.com/office/drawing/2014/main" val="3728627177"/>
                  </a:ext>
                </a:extLst>
              </a:tr>
              <a:tr h="5282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2025/6/1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經紀部</a:t>
                      </a:r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(9887)</a:t>
                      </a:r>
                      <a:endParaRPr lang="zh-TW" altLang="en-US" sz="9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林小君</a:t>
                      </a: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9831567</a:t>
                      </a:r>
                      <a:endParaRPr lang="zh-TW" altLang="en-US" sz="900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extLst>
                  <a:ext uri="{0D108BD9-81ED-4DB2-BD59-A6C34878D82A}">
                    <a16:rowId xmlns:a16="http://schemas.microsoft.com/office/drawing/2014/main" val="1310396017"/>
                  </a:ext>
                </a:extLst>
              </a:tr>
              <a:tr h="5282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2025/6/6</a:t>
                      </a:r>
                      <a:endParaRPr lang="zh-TW" altLang="en-US" sz="9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經紀部</a:t>
                      </a:r>
                      <a:r>
                        <a:rPr lang="en-US" altLang="zh-TW" sz="9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(9887)</a:t>
                      </a:r>
                      <a:endParaRPr lang="zh-TW" altLang="en-US" sz="9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方小辰</a:t>
                      </a:r>
                      <a:endParaRPr lang="en-US" altLang="zh-TW" sz="900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9824999</a:t>
                      </a:r>
                      <a:endParaRPr lang="zh-TW" altLang="en-US" sz="900" b="0" dirty="0" smtClean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4734" marR="64734" marT="32367" marB="32367" anchor="ctr"/>
                </a:tc>
                <a:extLst>
                  <a:ext uri="{0D108BD9-81ED-4DB2-BD59-A6C34878D82A}">
                    <a16:rowId xmlns:a16="http://schemas.microsoft.com/office/drawing/2014/main" val="378235851"/>
                  </a:ext>
                </a:extLst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>
            <a:off x="4796447" y="3195484"/>
            <a:ext cx="3702307" cy="19664"/>
          </a:xfrm>
          <a:prstGeom prst="straightConnector1">
            <a:avLst/>
          </a:prstGeom>
          <a:ln>
            <a:solidFill>
              <a:srgbClr val="E4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0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C1269A-18B9-4406-BBF7-C81862D6268E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  <p:grpSp>
        <p:nvGrpSpPr>
          <p:cNvPr id="89" name="群組 88"/>
          <p:cNvGrpSpPr/>
          <p:nvPr/>
        </p:nvGrpSpPr>
        <p:grpSpPr>
          <a:xfrm>
            <a:off x="-520877" y="1666530"/>
            <a:ext cx="216024" cy="2442446"/>
            <a:chOff x="-390293" y="1557204"/>
            <a:chExt cx="216024" cy="2442446"/>
          </a:xfrm>
        </p:grpSpPr>
        <p:sp>
          <p:nvSpPr>
            <p:cNvPr id="91" name="矩形 90"/>
            <p:cNvSpPr/>
            <p:nvPr/>
          </p:nvSpPr>
          <p:spPr>
            <a:xfrm>
              <a:off x="-390293" y="1557204"/>
              <a:ext cx="216024" cy="246584"/>
            </a:xfrm>
            <a:prstGeom prst="rect">
              <a:avLst/>
            </a:prstGeom>
            <a:solidFill>
              <a:srgbClr val="9ED0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-390293" y="1800864"/>
              <a:ext cx="216024" cy="246584"/>
            </a:xfrm>
            <a:prstGeom prst="rect">
              <a:avLst/>
            </a:prstGeom>
            <a:solidFill>
              <a:srgbClr val="42A3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-390293" y="2044524"/>
              <a:ext cx="216024" cy="24658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-390293" y="2534768"/>
              <a:ext cx="216024" cy="246584"/>
            </a:xfrm>
            <a:prstGeom prst="rect">
              <a:avLst/>
            </a:prstGeom>
            <a:solidFill>
              <a:srgbClr val="0D32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5" name="矩形 94"/>
            <p:cNvSpPr/>
            <p:nvPr/>
          </p:nvSpPr>
          <p:spPr>
            <a:xfrm>
              <a:off x="-390293" y="2291108"/>
              <a:ext cx="216024" cy="246584"/>
            </a:xfrm>
            <a:prstGeom prst="rect">
              <a:avLst/>
            </a:prstGeom>
            <a:solidFill>
              <a:srgbClr val="004D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99" name="矩形 98"/>
            <p:cNvSpPr/>
            <p:nvPr/>
          </p:nvSpPr>
          <p:spPr>
            <a:xfrm>
              <a:off x="-390293" y="2778428"/>
              <a:ext cx="216024" cy="246584"/>
            </a:xfrm>
            <a:prstGeom prst="rect">
              <a:avLst/>
            </a:prstGeom>
            <a:solidFill>
              <a:srgbClr val="FFBC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0" name="矩形 99"/>
            <p:cNvSpPr/>
            <p:nvPr/>
          </p:nvSpPr>
          <p:spPr>
            <a:xfrm>
              <a:off x="-390293" y="3022088"/>
              <a:ext cx="216024" cy="246584"/>
            </a:xfrm>
            <a:prstGeom prst="rect">
              <a:avLst/>
            </a:prstGeom>
            <a:solidFill>
              <a:srgbClr val="FFA6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1" name="矩形 100"/>
            <p:cNvSpPr/>
            <p:nvPr/>
          </p:nvSpPr>
          <p:spPr>
            <a:xfrm>
              <a:off x="-390293" y="3265748"/>
              <a:ext cx="216024" cy="246584"/>
            </a:xfrm>
            <a:prstGeom prst="rect">
              <a:avLst/>
            </a:prstGeom>
            <a:solidFill>
              <a:srgbClr val="82C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2" name="矩形 101"/>
            <p:cNvSpPr/>
            <p:nvPr/>
          </p:nvSpPr>
          <p:spPr>
            <a:xfrm>
              <a:off x="-390293" y="3509408"/>
              <a:ext cx="216024" cy="246584"/>
            </a:xfrm>
            <a:prstGeom prst="rect">
              <a:avLst/>
            </a:prstGeom>
            <a:solidFill>
              <a:srgbClr val="489F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-390293" y="3753066"/>
              <a:ext cx="216024" cy="246584"/>
            </a:xfrm>
            <a:prstGeom prst="rect">
              <a:avLst/>
            </a:prstGeom>
            <a:solidFill>
              <a:srgbClr val="1669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</p:grpSp>
      <p:sp>
        <p:nvSpPr>
          <p:cNvPr id="80" name="文字方塊 79"/>
          <p:cNvSpPr txBox="1"/>
          <p:nvPr/>
        </p:nvSpPr>
        <p:spPr>
          <a:xfrm>
            <a:off x="165541" y="104856"/>
            <a:ext cx="80554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MGM</a:t>
            </a:r>
            <a:r>
              <a:rPr lang="zh-TW" altLang="en-US" sz="3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申請流程與前端對應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6736" y="107808"/>
            <a:ext cx="184825" cy="5232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3122061" y="566832"/>
            <a:ext cx="48973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*檢核專案起訖日是否正確</a:t>
            </a:r>
            <a:endParaRPr lang="en-US" altLang="zh-TW" sz="1200" b="0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200" b="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1200" b="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如不符合格式規定，系統跳錯訊「格式有誤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</a:t>
            </a:r>
            <a:endParaRPr lang="en-US" altLang="zh-TW" sz="1200" b="0" dirty="0" smtClean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MGM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編碼規則：前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碼為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MG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，後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碼為相同使用者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，後</a:t>
            </a:r>
            <a:r>
              <a:rPr lang="en-US" altLang="zh-TW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200" b="0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碼須相同</a:t>
            </a:r>
            <a:endParaRPr lang="zh-TW" altLang="en-US" sz="1200" b="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圓角矩形 41"/>
          <p:cNvSpPr/>
          <p:nvPr/>
        </p:nvSpPr>
        <p:spPr>
          <a:xfrm>
            <a:off x="163465" y="1208283"/>
            <a:ext cx="705677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申請專案</a:t>
            </a:r>
          </a:p>
        </p:txBody>
      </p:sp>
      <p:sp>
        <p:nvSpPr>
          <p:cNvPr id="43" name="圓角矩形 42"/>
          <p:cNvSpPr/>
          <p:nvPr/>
        </p:nvSpPr>
        <p:spPr>
          <a:xfrm>
            <a:off x="6734814" y="1208283"/>
            <a:ext cx="1433986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輸入專案起訖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圓角矩形 44"/>
          <p:cNvSpPr/>
          <p:nvPr/>
        </p:nvSpPr>
        <p:spPr>
          <a:xfrm>
            <a:off x="9165877" y="1208283"/>
            <a:ext cx="1420686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點選送出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產出專案代碼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圓角矩形 48"/>
          <p:cNvSpPr/>
          <p:nvPr/>
        </p:nvSpPr>
        <p:spPr>
          <a:xfrm>
            <a:off x="1866218" y="1208283"/>
            <a:ext cx="1239570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選取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專案類型</a:t>
            </a:r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(A)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圓角矩形 49"/>
          <p:cNvSpPr/>
          <p:nvPr/>
        </p:nvSpPr>
        <p:spPr>
          <a:xfrm>
            <a:off x="4102864" y="1208283"/>
            <a:ext cx="1634874" cy="708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選取專案代碼</a:t>
            </a:r>
            <a:endParaRPr lang="en-US" altLang="zh-TW" sz="1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(MGM-MG)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4" name="直線單箭頭接點 53"/>
          <p:cNvCxnSpPr>
            <a:stCxn id="42" idx="3"/>
            <a:endCxn id="49" idx="1"/>
          </p:cNvCxnSpPr>
          <p:nvPr/>
        </p:nvCxnSpPr>
        <p:spPr>
          <a:xfrm>
            <a:off x="869142" y="1562340"/>
            <a:ext cx="9970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49" idx="3"/>
            <a:endCxn id="50" idx="1"/>
          </p:cNvCxnSpPr>
          <p:nvPr/>
        </p:nvCxnSpPr>
        <p:spPr>
          <a:xfrm>
            <a:off x="3105788" y="1562340"/>
            <a:ext cx="9970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50" idx="3"/>
            <a:endCxn id="43" idx="1"/>
          </p:cNvCxnSpPr>
          <p:nvPr/>
        </p:nvCxnSpPr>
        <p:spPr>
          <a:xfrm>
            <a:off x="5737738" y="1562340"/>
            <a:ext cx="9970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43" idx="3"/>
            <a:endCxn id="45" idx="1"/>
          </p:cNvCxnSpPr>
          <p:nvPr/>
        </p:nvCxnSpPr>
        <p:spPr>
          <a:xfrm>
            <a:off x="8168800" y="1562340"/>
            <a:ext cx="9970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圖片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8294" y="4538803"/>
            <a:ext cx="1098187" cy="2161108"/>
          </a:xfrm>
          <a:prstGeom prst="rect">
            <a:avLst/>
          </a:prstGeom>
        </p:spPr>
      </p:pic>
      <p:grpSp>
        <p:nvGrpSpPr>
          <p:cNvPr id="88" name="群組 87"/>
          <p:cNvGrpSpPr/>
          <p:nvPr/>
        </p:nvGrpSpPr>
        <p:grpSpPr>
          <a:xfrm>
            <a:off x="10165239" y="4584974"/>
            <a:ext cx="778248" cy="1143232"/>
            <a:chOff x="3383855" y="2871433"/>
            <a:chExt cx="778248" cy="1143232"/>
          </a:xfrm>
        </p:grpSpPr>
        <p:pic>
          <p:nvPicPr>
            <p:cNvPr id="90" name="圖片 8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83855" y="2871433"/>
              <a:ext cx="778248" cy="1131018"/>
            </a:xfrm>
            <a:prstGeom prst="rect">
              <a:avLst/>
            </a:prstGeom>
          </p:spPr>
        </p:pic>
        <p:grpSp>
          <p:nvGrpSpPr>
            <p:cNvPr id="96" name="群組 95"/>
            <p:cNvGrpSpPr/>
            <p:nvPr/>
          </p:nvGrpSpPr>
          <p:grpSpPr>
            <a:xfrm>
              <a:off x="3401846" y="3845388"/>
              <a:ext cx="377026" cy="169277"/>
              <a:chOff x="170564" y="3845388"/>
              <a:chExt cx="377026" cy="169277"/>
            </a:xfrm>
          </p:grpSpPr>
          <p:sp>
            <p:nvSpPr>
              <p:cNvPr id="97" name="矩形 96"/>
              <p:cNvSpPr/>
              <p:nvPr/>
            </p:nvSpPr>
            <p:spPr>
              <a:xfrm>
                <a:off x="258575" y="3897067"/>
                <a:ext cx="201004" cy="7085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8" name="文字方塊 97"/>
              <p:cNvSpPr txBox="1"/>
              <p:nvPr/>
            </p:nvSpPr>
            <p:spPr>
              <a:xfrm>
                <a:off x="170564" y="3845388"/>
                <a:ext cx="377026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zh-TW" altLang="en-US" sz="5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推薦碼</a:t>
                </a:r>
              </a:p>
            </p:txBody>
          </p:sp>
        </p:grpSp>
      </p:grpSp>
      <p:sp>
        <p:nvSpPr>
          <p:cNvPr id="105" name="文字方塊 104"/>
          <p:cNvSpPr txBox="1"/>
          <p:nvPr/>
        </p:nvSpPr>
        <p:spPr>
          <a:xfrm>
            <a:off x="121288" y="2487271"/>
            <a:ext cx="14093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TW" altLang="en-US" sz="1600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投資</a:t>
            </a:r>
            <a:r>
              <a:rPr kumimoji="1" lang="zh-TW" altLang="en-US" sz="1600" u="sng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先生</a:t>
            </a:r>
            <a:r>
              <a:rPr kumimoji="1" lang="en-US" altLang="zh-TW" sz="1600" u="sng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APP</a:t>
            </a:r>
            <a:endParaRPr kumimoji="1" lang="zh-TW" altLang="en-US" sz="1600" u="sng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06" name="直線接點 105"/>
          <p:cNvCxnSpPr/>
          <p:nvPr/>
        </p:nvCxnSpPr>
        <p:spPr>
          <a:xfrm>
            <a:off x="65884" y="2374652"/>
            <a:ext cx="1143952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字方塊 106"/>
          <p:cNvSpPr txBox="1"/>
          <p:nvPr/>
        </p:nvSpPr>
        <p:spPr>
          <a:xfrm>
            <a:off x="112640" y="772043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TW" altLang="en-US" sz="1600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推薦碼後台管理系統</a:t>
            </a:r>
          </a:p>
        </p:txBody>
      </p:sp>
      <p:sp>
        <p:nvSpPr>
          <p:cNvPr id="110" name="菱形 109"/>
          <p:cNvSpPr>
            <a:spLocks noChangeAspect="1"/>
          </p:cNvSpPr>
          <p:nvPr/>
        </p:nvSpPr>
        <p:spPr>
          <a:xfrm>
            <a:off x="1151786" y="3901323"/>
            <a:ext cx="2376223" cy="708114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檢查用戶種類、專案代碼、</a:t>
            </a:r>
            <a:r>
              <a:rPr lang="en-US" altLang="zh-TW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endParaRPr lang="zh-TW" altLang="en-US" sz="11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1" name="菱形 110"/>
          <p:cNvSpPr>
            <a:spLocks noChangeAspect="1"/>
          </p:cNvSpPr>
          <p:nvPr/>
        </p:nvSpPr>
        <p:spPr>
          <a:xfrm>
            <a:off x="4251809" y="3899151"/>
            <a:ext cx="4302666" cy="708114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檢查</a:t>
            </a:r>
            <a:r>
              <a:rPr lang="en-US" altLang="zh-TW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MG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專案起訖日，並確認</a:t>
            </a:r>
            <a:r>
              <a:rPr lang="en-US" altLang="zh-TW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MG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專案下是否已有推薦碼</a:t>
            </a:r>
          </a:p>
        </p:txBody>
      </p:sp>
      <p:sp>
        <p:nvSpPr>
          <p:cNvPr id="113" name="文字方塊 112"/>
          <p:cNvSpPr txBox="1"/>
          <p:nvPr/>
        </p:nvSpPr>
        <p:spPr>
          <a:xfrm>
            <a:off x="6069302" y="3656365"/>
            <a:ext cx="327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</a:t>
            </a:r>
            <a:endParaRPr kumimoji="1" lang="zh-TW" altLang="en-US" sz="12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4" name="圓角矩形 113"/>
          <p:cNvSpPr/>
          <p:nvPr/>
        </p:nvSpPr>
        <p:spPr>
          <a:xfrm>
            <a:off x="1284630" y="3270820"/>
            <a:ext cx="2112125" cy="37928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跳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錯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訊「須為自然人」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5" name="圓角矩形 114"/>
          <p:cNvSpPr/>
          <p:nvPr/>
        </p:nvSpPr>
        <p:spPr>
          <a:xfrm>
            <a:off x="4379486" y="3277082"/>
            <a:ext cx="4047312" cy="37928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於後台系統建立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一個推薦碼，並回傳推薦碼</a:t>
            </a:r>
          </a:p>
        </p:txBody>
      </p:sp>
      <p:sp>
        <p:nvSpPr>
          <p:cNvPr id="116" name="文字方塊 115"/>
          <p:cNvSpPr txBox="1"/>
          <p:nvPr/>
        </p:nvSpPr>
        <p:spPr>
          <a:xfrm>
            <a:off x="2006853" y="3646809"/>
            <a:ext cx="327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</a:t>
            </a:r>
            <a:endParaRPr kumimoji="1" lang="zh-TW" altLang="en-US" sz="12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7" name="圓角矩形 116"/>
          <p:cNvSpPr/>
          <p:nvPr/>
        </p:nvSpPr>
        <p:spPr>
          <a:xfrm>
            <a:off x="9278276" y="4063566"/>
            <a:ext cx="1450345" cy="37928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傳推薦碼</a:t>
            </a:r>
          </a:p>
        </p:txBody>
      </p:sp>
      <p:cxnSp>
        <p:nvCxnSpPr>
          <p:cNvPr id="67" name="直線單箭頭接點 66"/>
          <p:cNvCxnSpPr>
            <a:stCxn id="110" idx="0"/>
            <a:endCxn id="114" idx="2"/>
          </p:cNvCxnSpPr>
          <p:nvPr/>
        </p:nvCxnSpPr>
        <p:spPr>
          <a:xfrm flipV="1">
            <a:off x="2339898" y="3650103"/>
            <a:ext cx="795" cy="251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111" idx="0"/>
            <a:endCxn id="115" idx="2"/>
          </p:cNvCxnSpPr>
          <p:nvPr/>
        </p:nvCxnSpPr>
        <p:spPr>
          <a:xfrm flipV="1">
            <a:off x="6403142" y="3656365"/>
            <a:ext cx="0" cy="242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肘形接點 71"/>
          <p:cNvCxnSpPr>
            <a:stCxn id="45" idx="3"/>
            <a:endCxn id="110" idx="1"/>
          </p:cNvCxnSpPr>
          <p:nvPr/>
        </p:nvCxnSpPr>
        <p:spPr>
          <a:xfrm flipH="1">
            <a:off x="1151786" y="1562340"/>
            <a:ext cx="9434777" cy="2693040"/>
          </a:xfrm>
          <a:prstGeom prst="bentConnector5">
            <a:avLst>
              <a:gd name="adj1" fmla="val -2423"/>
              <a:gd name="adj2" fmla="val 50000"/>
              <a:gd name="adj3" fmla="val 10242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>
            <a:stCxn id="110" idx="3"/>
            <a:endCxn id="111" idx="1"/>
          </p:cNvCxnSpPr>
          <p:nvPr/>
        </p:nvCxnSpPr>
        <p:spPr>
          <a:xfrm flipV="1">
            <a:off x="3528009" y="4253208"/>
            <a:ext cx="723800" cy="2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>
            <a:stCxn id="111" idx="3"/>
            <a:endCxn id="117" idx="1"/>
          </p:cNvCxnSpPr>
          <p:nvPr/>
        </p:nvCxnSpPr>
        <p:spPr>
          <a:xfrm>
            <a:off x="8554475" y="4253208"/>
            <a:ext cx="723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8752380" y="3985684"/>
            <a:ext cx="327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</a:t>
            </a:r>
            <a:endParaRPr kumimoji="1" lang="zh-TW" altLang="en-US" sz="1200" b="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5922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sz="1600" b="0" dirty="0">
            <a:latin typeface="Microsoft JhengHei" panose="020B0604030504040204" pitchFamily="34" charset="-120"/>
            <a:ea typeface="Microsoft JhengHei" panose="020B0604030504040204" pitchFamily="34" charset="-12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F3C05EE158B374089DFAB92EB6F4594" ma:contentTypeVersion="0" ma:contentTypeDescription="建立新的文件。" ma:contentTypeScope="" ma:versionID="13f6c81c084835ae62a3c613ae77b77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8ca951d90cafeb83d4a03d140f1bad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 ma:readOnly="true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C18532-C68B-4D2C-98EE-52127410BD12}">
  <ds:schemaRefs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892CD600-A5C5-4C66-88EB-EA60BCB6F4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209628</TotalTime>
  <Words>2932</Words>
  <Application>Microsoft Office PowerPoint</Application>
  <PresentationFormat>寬螢幕</PresentationFormat>
  <Paragraphs>560</Paragraphs>
  <Slides>13</Slides>
  <Notes>12</Notes>
  <HiddenSlides>3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2" baseType="lpstr">
      <vt:lpstr>Microsoft JhengHei</vt:lpstr>
      <vt:lpstr>Microsoft JhengHei</vt:lpstr>
      <vt:lpstr>新細明體</vt:lpstr>
      <vt:lpstr>標楷體</vt:lpstr>
      <vt:lpstr>Arial</vt:lpstr>
      <vt:lpstr>Calibri</vt:lpstr>
      <vt:lpstr>Calibri Light</vt:lpstr>
      <vt:lpstr>Wingdings</vt:lpstr>
      <vt:lpstr>自訂設計</vt:lpstr>
      <vt:lpstr>PowerPoint 簡報</vt:lpstr>
      <vt:lpstr>PowerPoint 簡報</vt:lpstr>
      <vt:lpstr>推薦碼機制功能規劃(第一階段-基礎功能架構)</vt:lpstr>
      <vt:lpstr>推薦碼機制功能規劃(第二階段-MGM功能)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ycps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ycps</dc:creator>
  <cp:lastModifiedBy>林子維 tzuweilin50276 (Yuanta)</cp:lastModifiedBy>
  <cp:revision>8386</cp:revision>
  <cp:lastPrinted>2023-06-14T00:11:50Z</cp:lastPrinted>
  <dcterms:created xsi:type="dcterms:W3CDTF">2006-11-14T03:57:18Z</dcterms:created>
  <dcterms:modified xsi:type="dcterms:W3CDTF">2026-04-23T02:34:57Z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0x010100DF3C05EE158B374089DFAB92EB6F4594</vt:lpwstr>
  </property>
</Properties>
</file>